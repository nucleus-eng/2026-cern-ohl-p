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13716000" cx="24384000"/>
  <p:notesSz cx="6858000" cy="9144000"/>
  <p:embeddedFontLst>
    <p:embeddedFont>
      <p:font typeface="Jost"/>
      <p:regular r:id="rId7"/>
      <p:bold r:id="rId8"/>
      <p:italic r:id="rId9"/>
      <p:boldItalic r:id="rId10"/>
    </p:embeddedFont>
    <p:embeddedFont>
      <p:font typeface="Helvetica Neue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lglViPEWTghKva6ENT0PUKG+t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regular.fntdata"/><Relationship Id="rId10" Type="http://schemas.openxmlformats.org/officeDocument/2006/relationships/font" Target="fonts/Jost-boldItalic.fntdata"/><Relationship Id="rId13" Type="http://schemas.openxmlformats.org/officeDocument/2006/relationships/font" Target="fonts/HelveticaNeue-italic.fntdata"/><Relationship Id="rId12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Jost-italic.fntdata"/><Relationship Id="rId15" Type="http://customschemas.google.com/relationships/presentationmetadata" Target="metadata"/><Relationship Id="rId14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Jost-regular.fntdata"/><Relationship Id="rId8" Type="http://schemas.openxmlformats.org/officeDocument/2006/relationships/font" Target="fonts/Jos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fe792733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g3d1fe792733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1fe792733_1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d1fe792733_1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" type="body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type="title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2" type="body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">
  <p:cSld name="Title &amp; Photo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/>
          <p:nvPr>
            <p:ph idx="2" type="pic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7"/>
          <p:cNvSpPr txBox="1"/>
          <p:nvPr>
            <p:ph type="title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3" type="body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 Alt">
  <p:cSld name="Title &amp; Photo Al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>
            <p:ph idx="2" type="pic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8"/>
          <p:cNvSpPr txBox="1"/>
          <p:nvPr>
            <p:ph type="title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38" name="Google Shape;38;p11"/>
          <p:cNvSpPr/>
          <p:nvPr>
            <p:ph idx="3" type="pic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1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Live Video Small">
  <p:cSld name="Title, Bullets &amp; Live Video Small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Live Video Large">
  <p:cSld name="Title, Bullets &amp; Live Video Larg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2" type="body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369189" lvl="0" marL="457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Sec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b="0"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indent="-228600" lvl="1" marL="9144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indent="-228600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indent="-2286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indent="-22860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act">
  <p:cSld name="Big Fa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b="1" sz="25000"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2" type="body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b="1" sz="55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b="1" sz="3600"/>
            </a:lvl1pPr>
            <a:lvl2pPr indent="-369189" lvl="1" marL="914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indent="-369189" lvl="2" marL="1371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indent="-369189" lvl="3" marL="1828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indent="-369189" lvl="4" marL="22860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9189" lvl="5" marL="27432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indent="-369189" lvl="6" marL="32004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indent="-369189" lvl="7" marL="36576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indent="-369189" lvl="8" marL="411480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>
            <p:ph idx="2" type="pic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0"/>
          <p:cNvSpPr/>
          <p:nvPr>
            <p:ph idx="3" type="pic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0"/>
          <p:cNvSpPr/>
          <p:nvPr>
            <p:ph idx="4" type="pic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>
            <p:ph idx="2" type="pic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b="1" i="0" sz="8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603504" lvl="0" marL="457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03504" lvl="1" marL="914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03504" lvl="2" marL="1371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03504" lvl="3" marL="1828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03504" lvl="4" marL="22860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03504" lvl="5" marL="27432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03504" lvl="6" marL="32004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03504" lvl="7" marL="36576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03503" lvl="8" marL="4114800" marR="0" rtl="0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b="0" i="0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1fe792733_1_0"/>
          <p:cNvSpPr/>
          <p:nvPr/>
        </p:nvSpPr>
        <p:spPr>
          <a:xfrm>
            <a:off x="1540489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Ideation &amp; Hypothesis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“IG” Analyze data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“OR” synthesize project, literature, data, designs, and context. Generate and rank novel, testable hypotheses.</a:t>
            </a:r>
            <a:endParaRPr b="0" i="0" sz="23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g3d1fe792733_1_0"/>
          <p:cNvSpPr/>
          <p:nvPr/>
        </p:nvSpPr>
        <p:spPr>
          <a:xfrm>
            <a:off x="7340805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of Experiments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 generates set of GESs.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note used.</a:t>
            </a:r>
            <a:endParaRPr b="0" i="0" sz="24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g3d1fe792733_1_0"/>
          <p:cNvSpPr txBox="1"/>
          <p:nvPr/>
        </p:nvSpPr>
        <p:spPr>
          <a:xfrm rot="-5400000">
            <a:off x="-741050" y="2569975"/>
            <a:ext cx="25317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d1fe792733_1_0"/>
          <p:cNvSpPr txBox="1"/>
          <p:nvPr/>
        </p:nvSpPr>
        <p:spPr>
          <a:xfrm rot="-5400000">
            <a:off x="-728750" y="5704025"/>
            <a:ext cx="2507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d1fe792733_1_0"/>
          <p:cNvSpPr/>
          <p:nvPr/>
        </p:nvSpPr>
        <p:spPr>
          <a:xfrm>
            <a:off x="963392" y="1691700"/>
            <a:ext cx="167700" cy="256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g3d1fe792733_1_0"/>
          <p:cNvSpPr/>
          <p:nvPr/>
        </p:nvSpPr>
        <p:spPr>
          <a:xfrm>
            <a:off x="963392" y="4818948"/>
            <a:ext cx="167700" cy="256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d1fe792733_1_0"/>
          <p:cNvSpPr/>
          <p:nvPr/>
        </p:nvSpPr>
        <p:spPr>
          <a:xfrm>
            <a:off x="7322291" y="485408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Experimental Platform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 GESs, modify them and set up experiment.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 experiments and run fluorescence meteorology.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d1fe792733_1_0"/>
          <p:cNvSpPr/>
          <p:nvPr/>
        </p:nvSpPr>
        <p:spPr>
          <a:xfrm>
            <a:off x="13122605" y="485403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Platform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 hr experiment turn-around time for next iteration hand-off to foundry.</a:t>
            </a:r>
            <a:endParaRPr b="0" i="0" sz="24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g3d1fe792733_1_0"/>
          <p:cNvSpPr/>
          <p:nvPr/>
        </p:nvSpPr>
        <p:spPr>
          <a:xfrm>
            <a:off x="13141120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Interpretation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adjusts goals, priors,bounds/constraints, ect and IGOR generates/updates GESs.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3d1fe792733_1_0"/>
          <p:cNvSpPr/>
          <p:nvPr/>
        </p:nvSpPr>
        <p:spPr>
          <a:xfrm>
            <a:off x="18941436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Agent takes experimenters notes, IGOR outputs, and turns into a draft.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edits the draft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g3d1fe792733_1_0"/>
          <p:cNvSpPr/>
          <p:nvPr/>
        </p:nvSpPr>
        <p:spPr>
          <a:xfrm>
            <a:off x="18922920" y="485403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[Human] Developer Notes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rapidly shared as interactive publications, backed by computable open data.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g3d1fe792733_1_0"/>
          <p:cNvCxnSpPr>
            <a:stCxn id="94" idx="0"/>
            <a:endCxn id="86" idx="0"/>
          </p:cNvCxnSpPr>
          <p:nvPr/>
        </p:nvCxnSpPr>
        <p:spPr>
          <a:xfrm rot="5400000">
            <a:off x="9862570" y="-4076148"/>
            <a:ext cx="600" cy="11600700"/>
          </a:xfrm>
          <a:prstGeom prst="bentConnector3">
            <a:avLst>
              <a:gd fmla="val -73083667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98" name="Google Shape;98;g3d1fe792733_1_0"/>
          <p:cNvSpPr txBox="1"/>
          <p:nvPr/>
        </p:nvSpPr>
        <p:spPr>
          <a:xfrm>
            <a:off x="4062525" y="706271"/>
            <a:ext cx="116007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with Human-in-the-loop</a:t>
            </a:r>
            <a:endParaRPr b="0" i="0" sz="2800" u="none" cap="none" strike="noStrike"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g3d1fe792733_1_0"/>
          <p:cNvSpPr/>
          <p:nvPr/>
        </p:nvSpPr>
        <p:spPr>
          <a:xfrm>
            <a:off x="15234133" y="-2865474"/>
            <a:ext cx="8391300" cy="2160600"/>
          </a:xfrm>
          <a:prstGeom prst="roundRect">
            <a:avLst>
              <a:gd fmla="val 14121" name="adj"/>
            </a:avLst>
          </a:prstGeom>
          <a:noFill/>
          <a:ln cap="flat" cmpd="sng" w="50800">
            <a:solidFill>
              <a:srgbClr val="000000"/>
            </a:solidFill>
            <a:prstDash val="dot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Re-use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data (AI ecosystem)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from conclusions (scientists)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enablement (cell-free upgrades)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d1fe792733_1_0"/>
          <p:cNvSpPr/>
          <p:nvPr/>
        </p:nvSpPr>
        <p:spPr>
          <a:xfrm>
            <a:off x="284825" y="8854125"/>
            <a:ext cx="7518300" cy="4566300"/>
          </a:xfrm>
          <a:prstGeom prst="roundRect">
            <a:avLst>
              <a:gd fmla="val 5244" name="adj"/>
            </a:avLst>
          </a:prstGeom>
          <a:noFill/>
          <a:ln cap="flat" cmpd="sng" w="635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d1fe792733_1_0"/>
          <p:cNvSpPr/>
          <p:nvPr/>
        </p:nvSpPr>
        <p:spPr>
          <a:xfrm>
            <a:off x="1007612" y="10051157"/>
            <a:ext cx="2844000" cy="1003200"/>
          </a:xfrm>
          <a:prstGeom prst="rect">
            <a:avLst/>
          </a:prstGeom>
          <a:noFill/>
          <a:ln cap="flat" cmpd="sng" w="254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Cognitive Agents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d1fe792733_1_0"/>
          <p:cNvSpPr/>
          <p:nvPr/>
        </p:nvSpPr>
        <p:spPr>
          <a:xfrm>
            <a:off x="1007612" y="11225152"/>
            <a:ext cx="2844000" cy="10032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Bayesian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d1fe792733_1_0"/>
          <p:cNvSpPr/>
          <p:nvPr/>
        </p:nvSpPr>
        <p:spPr>
          <a:xfrm>
            <a:off x="1222195" y="11061957"/>
            <a:ext cx="2414700" cy="1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04" name="Google Shape;104;g3d1fe792733_1_0"/>
          <p:cNvGrpSpPr/>
          <p:nvPr/>
        </p:nvGrpSpPr>
        <p:grpSpPr>
          <a:xfrm>
            <a:off x="4254138" y="10219972"/>
            <a:ext cx="3140094" cy="2006784"/>
            <a:chOff x="0" y="-133"/>
            <a:chExt cx="3140094" cy="2006784"/>
          </a:xfrm>
        </p:grpSpPr>
        <p:sp>
          <p:nvSpPr>
            <p:cNvPr id="105" name="Google Shape;105;g3d1fe792733_1_0"/>
            <p:cNvSpPr/>
            <p:nvPr/>
          </p:nvSpPr>
          <p:spPr>
            <a:xfrm>
              <a:off x="434413" y="0"/>
              <a:ext cx="2269800" cy="10032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Deep Learning Surrogate Model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d1fe792733_1_0"/>
            <p:cNvSpPr/>
            <p:nvPr/>
          </p:nvSpPr>
          <p:spPr>
            <a:xfrm>
              <a:off x="434413" y="1003451"/>
              <a:ext cx="2269800" cy="10032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Bayesian Optimizer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d1fe792733_1_0"/>
            <p:cNvSpPr/>
            <p:nvPr/>
          </p:nvSpPr>
          <p:spPr>
            <a:xfrm rot="-5400000">
              <a:off x="-785100" y="784967"/>
              <a:ext cx="2006100" cy="435900"/>
            </a:xfrm>
            <a:prstGeom prst="rect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Constraints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d1fe792733_1_0"/>
            <p:cNvSpPr/>
            <p:nvPr/>
          </p:nvSpPr>
          <p:spPr>
            <a:xfrm rot="-5400000">
              <a:off x="1919094" y="784968"/>
              <a:ext cx="2006100" cy="435900"/>
            </a:xfrm>
            <a:prstGeom prst="rect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Objectives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9" name="Google Shape;109;g3d1fe792733_1_0"/>
          <p:cNvCxnSpPr/>
          <p:nvPr/>
        </p:nvCxnSpPr>
        <p:spPr>
          <a:xfrm>
            <a:off x="3860051" y="12226387"/>
            <a:ext cx="475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dashDot"/>
            <a:miter lim="400000"/>
            <a:headEnd len="sm" w="sm" type="none"/>
            <a:tailEnd len="sm" w="sm" type="none"/>
          </a:ln>
        </p:spPr>
      </p:cxnSp>
      <p:cxnSp>
        <p:nvCxnSpPr>
          <p:cNvPr id="110" name="Google Shape;110;g3d1fe792733_1_0"/>
          <p:cNvCxnSpPr/>
          <p:nvPr/>
        </p:nvCxnSpPr>
        <p:spPr>
          <a:xfrm flipH="1" rot="10800000">
            <a:off x="3844176" y="10220963"/>
            <a:ext cx="412500" cy="10053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dashDot"/>
            <a:miter lim="400000"/>
            <a:headEnd len="sm" w="sm" type="none"/>
            <a:tailEnd len="sm" w="sm" type="none"/>
          </a:ln>
        </p:spPr>
      </p:cxnSp>
      <p:grpSp>
        <p:nvGrpSpPr>
          <p:cNvPr id="111" name="Google Shape;111;g3d1fe792733_1_0"/>
          <p:cNvGrpSpPr/>
          <p:nvPr/>
        </p:nvGrpSpPr>
        <p:grpSpPr>
          <a:xfrm>
            <a:off x="2023155" y="10741505"/>
            <a:ext cx="812700" cy="812700"/>
            <a:chOff x="0" y="0"/>
            <a:chExt cx="812700" cy="812700"/>
          </a:xfrm>
        </p:grpSpPr>
        <p:sp>
          <p:nvSpPr>
            <p:cNvPr id="112" name="Google Shape;112;g3d1fe792733_1_0"/>
            <p:cNvSpPr/>
            <p:nvPr/>
          </p:nvSpPr>
          <p:spPr>
            <a:xfrm>
              <a:off x="0" y="0"/>
              <a:ext cx="812700" cy="8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3" name="Google Shape;113;g3d1fe792733_1_0"/>
            <p:cNvSpPr/>
            <p:nvPr/>
          </p:nvSpPr>
          <p:spPr>
            <a:xfrm>
              <a:off x="66807" y="132958"/>
              <a:ext cx="679212" cy="546858"/>
            </a:xfrm>
            <a:custGeom>
              <a:rect b="b" l="l" r="r" t="t"/>
              <a:pathLst>
                <a:path extrusionOk="0" h="21600" w="2160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4" name="Google Shape;114;g3d1fe792733_1_0"/>
          <p:cNvSpPr/>
          <p:nvPr/>
        </p:nvSpPr>
        <p:spPr>
          <a:xfrm>
            <a:off x="3417575" y="537200"/>
            <a:ext cx="20753400" cy="10048875"/>
          </a:xfrm>
          <a:custGeom>
            <a:rect b="b" l="l" r="r" t="t"/>
            <a:pathLst>
              <a:path extrusionOk="0" h="401955" w="830136">
                <a:moveTo>
                  <a:pt x="820303" y="401955"/>
                </a:moveTo>
                <a:lnTo>
                  <a:pt x="830136" y="401955"/>
                </a:lnTo>
                <a:lnTo>
                  <a:pt x="829513" y="0"/>
                </a:lnTo>
                <a:lnTo>
                  <a:pt x="0" y="0"/>
                </a:lnTo>
                <a:lnTo>
                  <a:pt x="0" y="43788"/>
                </a:lnTo>
              </a:path>
            </a:pathLst>
          </a:custGeom>
          <a:noFill/>
          <a:ln cap="flat" cmpd="sng" w="50800">
            <a:solidFill>
              <a:srgbClr val="016D01"/>
            </a:solidFill>
            <a:prstDash val="dot"/>
            <a:miter lim="400000"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g3d1fe792733_1_0"/>
          <p:cNvSpPr txBox="1"/>
          <p:nvPr/>
        </p:nvSpPr>
        <p:spPr>
          <a:xfrm>
            <a:off x="13334438" y="46182"/>
            <a:ext cx="4657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AI-driven projects</a:t>
            </a:r>
            <a:endParaRPr b="0" i="0" sz="1400" u="none" cap="none" strike="noStrike">
              <a:solidFill>
                <a:srgbClr val="016D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g3d1fe792733_1_0"/>
          <p:cNvCxnSpPr/>
          <p:nvPr/>
        </p:nvCxnSpPr>
        <p:spPr>
          <a:xfrm>
            <a:off x="18198482" y="6099048"/>
            <a:ext cx="6921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miter lim="400000"/>
            <a:headEnd len="med" w="med" type="triangle"/>
            <a:tailEnd len="med" w="med" type="triangle"/>
          </a:ln>
        </p:spPr>
      </p:cxnSp>
      <p:sp>
        <p:nvSpPr>
          <p:cNvPr id="117" name="Google Shape;117;g3d1fe792733_1_0"/>
          <p:cNvSpPr/>
          <p:nvPr/>
        </p:nvSpPr>
        <p:spPr>
          <a:xfrm rot="-5400000">
            <a:off x="15352594" y="4203156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g3d1fe792733_1_0"/>
          <p:cNvSpPr/>
          <p:nvPr/>
        </p:nvSpPr>
        <p:spPr>
          <a:xfrm rot="5400000">
            <a:off x="9570845" y="4203055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g3d1fe792733_1_0"/>
          <p:cNvSpPr/>
          <p:nvPr/>
        </p:nvSpPr>
        <p:spPr>
          <a:xfrm>
            <a:off x="12387642" y="5752973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g3d1fe792733_1_0"/>
          <p:cNvSpPr/>
          <p:nvPr/>
        </p:nvSpPr>
        <p:spPr>
          <a:xfrm>
            <a:off x="6567640" y="2625750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g3d1fe792733_1_0"/>
          <p:cNvSpPr/>
          <p:nvPr/>
        </p:nvSpPr>
        <p:spPr>
          <a:xfrm>
            <a:off x="16555997" y="961120"/>
            <a:ext cx="521100" cy="521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g3d1fe792733_1_0"/>
          <p:cNvSpPr txBox="1"/>
          <p:nvPr/>
        </p:nvSpPr>
        <p:spPr>
          <a:xfrm>
            <a:off x="17142185" y="976420"/>
            <a:ext cx="18930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Scientist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d1fe792733_1_0"/>
          <p:cNvSpPr/>
          <p:nvPr/>
        </p:nvSpPr>
        <p:spPr>
          <a:xfrm>
            <a:off x="19539484" y="961120"/>
            <a:ext cx="521100" cy="52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g3d1fe792733_1_0"/>
          <p:cNvSpPr txBox="1"/>
          <p:nvPr/>
        </p:nvSpPr>
        <p:spPr>
          <a:xfrm>
            <a:off x="20124124" y="976420"/>
            <a:ext cx="12606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g3d1fe792733_1_0"/>
          <p:cNvGrpSpPr/>
          <p:nvPr/>
        </p:nvGrpSpPr>
        <p:grpSpPr>
          <a:xfrm>
            <a:off x="21889023" y="961120"/>
            <a:ext cx="2000351" cy="521100"/>
            <a:chOff x="21741221" y="961120"/>
            <a:chExt cx="2000351" cy="521100"/>
          </a:xfrm>
        </p:grpSpPr>
        <p:sp>
          <p:nvSpPr>
            <p:cNvPr id="126" name="Google Shape;126;g3d1fe792733_1_0"/>
            <p:cNvSpPr/>
            <p:nvPr/>
          </p:nvSpPr>
          <p:spPr>
            <a:xfrm>
              <a:off x="21741221" y="961120"/>
              <a:ext cx="521100" cy="521100"/>
            </a:xfrm>
            <a:prstGeom prst="rect">
              <a:avLst/>
            </a:prstGeom>
            <a:solidFill>
              <a:srgbClr val="016D01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7" name="Google Shape;127;g3d1fe792733_1_0"/>
            <p:cNvSpPr txBox="1"/>
            <p:nvPr/>
          </p:nvSpPr>
          <p:spPr>
            <a:xfrm>
              <a:off x="22330672" y="976420"/>
              <a:ext cx="1410900" cy="4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Helvetica Neue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Impact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g3d1fe792733_1_0"/>
          <p:cNvSpPr/>
          <p:nvPr/>
        </p:nvSpPr>
        <p:spPr>
          <a:xfrm>
            <a:off x="18168002" y="2625426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g3d1fe792733_1_0"/>
          <p:cNvSpPr/>
          <p:nvPr/>
        </p:nvSpPr>
        <p:spPr>
          <a:xfrm rot="5400000">
            <a:off x="21171476" y="4203055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g3d1fe792733_1_0"/>
          <p:cNvSpPr txBox="1"/>
          <p:nvPr/>
        </p:nvSpPr>
        <p:spPr>
          <a:xfrm>
            <a:off x="638460" y="8854125"/>
            <a:ext cx="1893000" cy="8004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</a:t>
            </a:r>
            <a:endParaRPr b="0" i="0" sz="20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endParaRPr b="0" i="0" sz="20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g3d1fe792733_1_0"/>
          <p:cNvSpPr txBox="1"/>
          <p:nvPr/>
        </p:nvSpPr>
        <p:spPr>
          <a:xfrm>
            <a:off x="2430684" y="8854125"/>
            <a:ext cx="1893000" cy="8004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interpretation</a:t>
            </a:r>
            <a:endParaRPr b="0" i="0" sz="20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g3d1fe792733_1_0"/>
          <p:cNvSpPr txBox="1"/>
          <p:nvPr/>
        </p:nvSpPr>
        <p:spPr>
          <a:xfrm>
            <a:off x="638460" y="12570605"/>
            <a:ext cx="189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Exp. Obs.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g3d1fe792733_1_0"/>
          <p:cNvSpPr txBox="1"/>
          <p:nvPr/>
        </p:nvSpPr>
        <p:spPr>
          <a:xfrm>
            <a:off x="2430675" y="12570600"/>
            <a:ext cx="2287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Formulations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(GESs)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4" name="Google Shape;134;g3d1fe792733_1_0"/>
          <p:cNvCxnSpPr/>
          <p:nvPr/>
        </p:nvCxnSpPr>
        <p:spPr>
          <a:xfrm flipH="1">
            <a:off x="1579451" y="9651755"/>
            <a:ext cx="300" cy="408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" name="Google Shape;135;g3d1fe792733_1_0"/>
          <p:cNvCxnSpPr/>
          <p:nvPr/>
        </p:nvCxnSpPr>
        <p:spPr>
          <a:xfrm rot="10800000">
            <a:off x="3378677" y="9657295"/>
            <a:ext cx="1200" cy="3822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6" name="Google Shape;136;g3d1fe792733_1_0"/>
          <p:cNvCxnSpPr/>
          <p:nvPr/>
        </p:nvCxnSpPr>
        <p:spPr>
          <a:xfrm>
            <a:off x="1579451" y="12228605"/>
            <a:ext cx="75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triangle"/>
            <a:tailEnd len="sm" w="sm" type="none"/>
          </a:ln>
        </p:spPr>
      </p:cxnSp>
      <p:cxnSp>
        <p:nvCxnSpPr>
          <p:cNvPr id="137" name="Google Shape;137;g3d1fe792733_1_0"/>
          <p:cNvCxnSpPr/>
          <p:nvPr/>
        </p:nvCxnSpPr>
        <p:spPr>
          <a:xfrm rot="10800000">
            <a:off x="3378077" y="12233245"/>
            <a:ext cx="1800" cy="34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triangle"/>
            <a:tailEnd len="sm" w="sm" type="none"/>
          </a:ln>
        </p:spPr>
      </p:cxnSp>
      <p:sp>
        <p:nvSpPr>
          <p:cNvPr id="138" name="Google Shape;138;g3d1fe792733_1_0"/>
          <p:cNvSpPr/>
          <p:nvPr/>
        </p:nvSpPr>
        <p:spPr>
          <a:xfrm>
            <a:off x="1222200" y="4884475"/>
            <a:ext cx="3020700" cy="12147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</a:t>
            </a:r>
            <a:endParaRPr b="1" i="0" sz="24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used</a:t>
            </a:r>
            <a:endParaRPr b="0" i="0" sz="2400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g3d1fe792733_1_0"/>
          <p:cNvSpPr/>
          <p:nvPr/>
        </p:nvSpPr>
        <p:spPr>
          <a:xfrm>
            <a:off x="12367815" y="2625750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g3d1fe792733_1_0"/>
          <p:cNvSpPr/>
          <p:nvPr/>
        </p:nvSpPr>
        <p:spPr>
          <a:xfrm>
            <a:off x="4360600" y="4884475"/>
            <a:ext cx="2844000" cy="12147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</a:t>
            </a:r>
            <a:endParaRPr b="1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-Curated dataset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1" name="Google Shape;141;g3d1fe792733_1_0"/>
          <p:cNvCxnSpPr>
            <a:stCxn id="140" idx="0"/>
            <a:endCxn id="86" idx="2"/>
          </p:cNvCxnSpPr>
          <p:nvPr/>
        </p:nvCxnSpPr>
        <p:spPr>
          <a:xfrm flipH="1" rot="5400000">
            <a:off x="4589950" y="3691825"/>
            <a:ext cx="665400" cy="1719900"/>
          </a:xfrm>
          <a:prstGeom prst="bentConnector3">
            <a:avLst>
              <a:gd fmla="val 50005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142" name="Google Shape;142;g3d1fe792733_1_0"/>
          <p:cNvCxnSpPr>
            <a:stCxn id="138" idx="0"/>
            <a:endCxn id="86" idx="2"/>
          </p:cNvCxnSpPr>
          <p:nvPr/>
        </p:nvCxnSpPr>
        <p:spPr>
          <a:xfrm rot="-5400000">
            <a:off x="3064800" y="3886825"/>
            <a:ext cx="665400" cy="1329900"/>
          </a:xfrm>
          <a:prstGeom prst="bentConnector3">
            <a:avLst>
              <a:gd fmla="val 50005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43" name="Google Shape;143;g3d1fe792733_1_0"/>
          <p:cNvSpPr txBox="1"/>
          <p:nvPr/>
        </p:nvSpPr>
        <p:spPr>
          <a:xfrm>
            <a:off x="4433300" y="8975488"/>
            <a:ext cx="336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Jost"/>
                <a:ea typeface="Jost"/>
                <a:cs typeface="Jost"/>
                <a:sym typeface="Jost"/>
              </a:rPr>
              <a:t>IGOR Overview</a:t>
            </a:r>
            <a:endParaRPr b="1" i="0" sz="32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4" name="Google Shape;144;g3d1fe792733_1_0"/>
          <p:cNvSpPr/>
          <p:nvPr/>
        </p:nvSpPr>
        <p:spPr>
          <a:xfrm>
            <a:off x="12842825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HW: API platemap mismatch, improve reagent dispensing 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  <a:extLst>
                <a:ext uri="http://customooxmlschemas.google.com/">
                  <go:slidesCustomData xmlns:go="http://customooxmlschemas.google.com/" textRoundtripDataId="1"/>
                </a:ext>
              </a:extLst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Algo:</a:t>
            </a: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IGOR doesn’t generate suggestions for zero-var, Opt </a:t>
            </a: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controls need to flag how much explore vs exploit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g3d1fe792733_1_0"/>
          <p:cNvSpPr/>
          <p:nvPr/>
        </p:nvSpPr>
        <p:spPr>
          <a:xfrm>
            <a:off x="16523673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lang="en-US" sz="2800">
                <a:latin typeface="Helvetica Neue"/>
                <a:ea typeface="Helvetica Neue"/>
                <a:cs typeface="Helvetica Neue"/>
                <a:sym typeface="Helvetica Neue"/>
              </a:rPr>
              <a:t>Learnings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 space well sampled for Mg, K, Cp</a:t>
            </a:r>
            <a:endParaRPr sz="2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should expand features.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g3d1fe792733_1_0"/>
          <p:cNvSpPr/>
          <p:nvPr/>
        </p:nvSpPr>
        <p:spPr>
          <a:xfrm>
            <a:off x="20204520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145 exp obs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Features: 7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159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O</a:t>
            </a: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utputs</a:t>
            </a: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: 4</a:t>
            </a: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○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[3</a:t>
            </a: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parameter sigmoidal fit, +1 classifier]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‣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GESs modified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47" name="Google Shape;147;g3d1fe792733_1_0"/>
          <p:cNvCxnSpPr>
            <a:stCxn id="96" idx="2"/>
            <a:endCxn id="145" idx="0"/>
          </p:cNvCxnSpPr>
          <p:nvPr/>
        </p:nvCxnSpPr>
        <p:spPr>
          <a:xfrm rot="5400000">
            <a:off x="18716370" y="6988986"/>
            <a:ext cx="2368500" cy="3088800"/>
          </a:xfrm>
          <a:prstGeom prst="bentConnector3">
            <a:avLst>
              <a:gd fmla="val 49998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148" name="Google Shape;148;g3d1fe792733_1_0"/>
          <p:cNvCxnSpPr>
            <a:stCxn id="96" idx="2"/>
            <a:endCxn id="144" idx="0"/>
          </p:cNvCxnSpPr>
          <p:nvPr/>
        </p:nvCxnSpPr>
        <p:spPr>
          <a:xfrm rot="5400000">
            <a:off x="16876020" y="5148636"/>
            <a:ext cx="2368500" cy="6769500"/>
          </a:xfrm>
          <a:prstGeom prst="bentConnector3">
            <a:avLst>
              <a:gd fmla="val 49998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149" name="Google Shape;149;g3d1fe792733_1_0"/>
          <p:cNvCxnSpPr>
            <a:endCxn id="146" idx="0"/>
          </p:cNvCxnSpPr>
          <p:nvPr/>
        </p:nvCxnSpPr>
        <p:spPr>
          <a:xfrm flipH="1" rot="-5400000">
            <a:off x="20556720" y="8237245"/>
            <a:ext cx="2368500" cy="592200"/>
          </a:xfrm>
          <a:prstGeom prst="bentConnector3">
            <a:avLst>
              <a:gd fmla="val 49999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50" name="Google Shape;150;g3d1fe792733_1_0"/>
          <p:cNvSpPr/>
          <p:nvPr/>
        </p:nvSpPr>
        <p:spPr>
          <a:xfrm>
            <a:off x="8030150" y="9725204"/>
            <a:ext cx="45162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Decisions made: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Font typeface="Helvetica Neue"/>
              <a:buChar char="‣"/>
            </a:pPr>
            <a:r>
              <a:rPr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Expand features most likely to result in higher yield and are easily tunable for us [GTP, ATP, AAs, tRNAs]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PPK</a:t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g3d1fe792733_1_0"/>
          <p:cNvSpPr/>
          <p:nvPr/>
        </p:nvSpPr>
        <p:spPr>
          <a:xfrm rot="-5400000">
            <a:off x="12540416" y="9920137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g3d1fe792733_1_0"/>
          <p:cNvSpPr/>
          <p:nvPr/>
        </p:nvSpPr>
        <p:spPr>
          <a:xfrm rot="-5400000">
            <a:off x="12540416" y="10406881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d1fe792733_1_0"/>
          <p:cNvSpPr/>
          <p:nvPr/>
        </p:nvSpPr>
        <p:spPr>
          <a:xfrm rot="-5400000">
            <a:off x="12540416" y="10889583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4" name="Google Shape;154;g3d1fe792733_1_0"/>
          <p:cNvCxnSpPr>
            <a:stCxn id="119" idx="1"/>
            <a:endCxn id="128" idx="3"/>
          </p:cNvCxnSpPr>
          <p:nvPr/>
        </p:nvCxnSpPr>
        <p:spPr>
          <a:xfrm flipH="1" rot="10800000">
            <a:off x="12387642" y="2971523"/>
            <a:ext cx="6533400" cy="3127500"/>
          </a:xfrm>
          <a:prstGeom prst="bentConnector5">
            <a:avLst>
              <a:gd fmla="val 91499" name="adj1"/>
              <a:gd fmla="val 49555" name="adj2"/>
              <a:gd fmla="val 91499" name="adj3"/>
            </a:avLst>
          </a:prstGeom>
          <a:noFill/>
          <a:ln cap="flat" cmpd="sng" w="762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5" name="Google Shape;155;g3d1fe792733_1_0"/>
          <p:cNvCxnSpPr>
            <a:stCxn id="129" idx="1"/>
            <a:endCxn id="96" idx="2"/>
          </p:cNvCxnSpPr>
          <p:nvPr/>
        </p:nvCxnSpPr>
        <p:spPr>
          <a:xfrm flipH="1">
            <a:off x="21444926" y="4257055"/>
            <a:ext cx="18600" cy="3092100"/>
          </a:xfrm>
          <a:prstGeom prst="straightConnector1">
            <a:avLst/>
          </a:prstGeom>
          <a:noFill/>
          <a:ln cap="flat" cmpd="sng" w="38100">
            <a:solidFill>
              <a:srgbClr val="016D0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g3d1fe792733_1_0"/>
          <p:cNvSpPr txBox="1"/>
          <p:nvPr/>
        </p:nvSpPr>
        <p:spPr>
          <a:xfrm>
            <a:off x="0" y="0"/>
            <a:ext cx="25317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Round-0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1fe792733_1_74"/>
          <p:cNvSpPr/>
          <p:nvPr/>
        </p:nvSpPr>
        <p:spPr>
          <a:xfrm>
            <a:off x="1540489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Ideation &amp; Hypothesis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“IG” Analyze data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“OR” synthesize project, literature, data, designs, and context. Generate and rank novel, testable hypotheses.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g3d1fe792733_1_74"/>
          <p:cNvSpPr/>
          <p:nvPr/>
        </p:nvSpPr>
        <p:spPr>
          <a:xfrm>
            <a:off x="7340805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of Experiments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Bayesian engine grounds agent output to data.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Hypotheses translated to experimental designs.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g3d1fe792733_1_74"/>
          <p:cNvSpPr txBox="1"/>
          <p:nvPr/>
        </p:nvSpPr>
        <p:spPr>
          <a:xfrm rot="-5400000">
            <a:off x="-741050" y="2569975"/>
            <a:ext cx="25317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d1fe792733_1_74"/>
          <p:cNvSpPr txBox="1"/>
          <p:nvPr/>
        </p:nvSpPr>
        <p:spPr>
          <a:xfrm rot="-5400000">
            <a:off x="-728750" y="5704025"/>
            <a:ext cx="2507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d1fe792733_1_74"/>
          <p:cNvSpPr/>
          <p:nvPr/>
        </p:nvSpPr>
        <p:spPr>
          <a:xfrm>
            <a:off x="963392" y="1691700"/>
            <a:ext cx="167700" cy="256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g3d1fe792733_1_74"/>
          <p:cNvSpPr/>
          <p:nvPr/>
        </p:nvSpPr>
        <p:spPr>
          <a:xfrm>
            <a:off x="963392" y="4818948"/>
            <a:ext cx="167700" cy="256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g3d1fe792733_1_74"/>
          <p:cNvSpPr/>
          <p:nvPr/>
        </p:nvSpPr>
        <p:spPr>
          <a:xfrm>
            <a:off x="7322291" y="485408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CCCCCC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Experimental Platform</a:t>
            </a:r>
            <a:endParaRPr b="0" i="0" sz="14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Automated high-throughput cell-free pipeline.</a:t>
            </a:r>
            <a:endParaRPr b="0" i="0" sz="2400" u="none" cap="none" strike="noStrike">
              <a:solidFill>
                <a:srgbClr val="CCCC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API to IGOR via Cell Developer Kit (CDK).</a:t>
            </a:r>
            <a:endParaRPr b="0" i="0" sz="2400" u="none" cap="none" strike="noStrike">
              <a:solidFill>
                <a:srgbClr val="CCCC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g3d1fe792733_1_74"/>
          <p:cNvSpPr/>
          <p:nvPr/>
        </p:nvSpPr>
        <p:spPr>
          <a:xfrm>
            <a:off x="13122605" y="485403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CCCCCC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Platform</a:t>
            </a:r>
            <a:endParaRPr b="0" i="0" sz="14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rgbClr val="CCCC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 hr experiment turn-around time for next iteration hand-off to foundry.</a:t>
            </a:r>
            <a:endParaRPr b="0" i="0" sz="2400" u="none" cap="none" strike="noStrike">
              <a:solidFill>
                <a:srgbClr val="CCCC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g3d1fe792733_1_74"/>
          <p:cNvSpPr/>
          <p:nvPr/>
        </p:nvSpPr>
        <p:spPr>
          <a:xfrm>
            <a:off x="13141120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Interpretation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b="0" i="0" lang="en-US" sz="23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adjusts goals, priors,ect and IGOR updates against quantitative ground-truth and refines hypotheses.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g3d1fe792733_1_74"/>
          <p:cNvSpPr/>
          <p:nvPr/>
        </p:nvSpPr>
        <p:spPr>
          <a:xfrm>
            <a:off x="18941436" y="1723902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Agent takes experimenters notes, IGOR outputs, and turns into a draft.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‣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 edits the draft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g3d1fe792733_1_74"/>
          <p:cNvSpPr/>
          <p:nvPr/>
        </p:nvSpPr>
        <p:spPr>
          <a:xfrm>
            <a:off x="18922920" y="4854036"/>
            <a:ext cx="5044200" cy="24951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Developer Notes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Helvetica Neue"/>
              <a:buChar char="‣"/>
            </a:pPr>
            <a:r>
              <a:rPr b="0" i="0" lang="en-US" sz="24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rapidly shared as interactive publications, backed by computable open data.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g3d1fe792733_1_74"/>
          <p:cNvCxnSpPr>
            <a:stCxn id="169" idx="0"/>
            <a:endCxn id="161" idx="0"/>
          </p:cNvCxnSpPr>
          <p:nvPr/>
        </p:nvCxnSpPr>
        <p:spPr>
          <a:xfrm rot="5400000">
            <a:off x="9862570" y="-4076148"/>
            <a:ext cx="600" cy="11600700"/>
          </a:xfrm>
          <a:prstGeom prst="bentConnector3">
            <a:avLst>
              <a:gd fmla="val -73083667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73" name="Google Shape;173;g3d1fe792733_1_74"/>
          <p:cNvSpPr txBox="1"/>
          <p:nvPr/>
        </p:nvSpPr>
        <p:spPr>
          <a:xfrm>
            <a:off x="4062525" y="706271"/>
            <a:ext cx="116007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with Human-in-the-loop</a:t>
            </a:r>
            <a:endParaRPr b="0" i="0" sz="2800" u="none" cap="none" strike="noStrike"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g3d1fe792733_1_74"/>
          <p:cNvSpPr/>
          <p:nvPr/>
        </p:nvSpPr>
        <p:spPr>
          <a:xfrm>
            <a:off x="15234133" y="-2865474"/>
            <a:ext cx="8391300" cy="2160600"/>
          </a:xfrm>
          <a:prstGeom prst="roundRect">
            <a:avLst>
              <a:gd fmla="val 14121" name="adj"/>
            </a:avLst>
          </a:prstGeom>
          <a:noFill/>
          <a:ln cap="flat" cmpd="sng" w="50800">
            <a:solidFill>
              <a:srgbClr val="000000"/>
            </a:solidFill>
            <a:prstDash val="dot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Re-use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data (AI ecosystem)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Learn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from conclusions (scientists)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67"/>
              <a:buFont typeface="Helvetica Neue"/>
              <a:buChar char="‣"/>
            </a:pPr>
            <a:r>
              <a:rPr b="1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</a:t>
            </a:r>
            <a:r>
              <a:rPr b="0" i="0" lang="en-US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enablement (cell-free upgrades)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d1fe792733_1_74"/>
          <p:cNvSpPr/>
          <p:nvPr/>
        </p:nvSpPr>
        <p:spPr>
          <a:xfrm>
            <a:off x="284825" y="8854125"/>
            <a:ext cx="7518300" cy="4566300"/>
          </a:xfrm>
          <a:prstGeom prst="roundRect">
            <a:avLst>
              <a:gd fmla="val 5244" name="adj"/>
            </a:avLst>
          </a:prstGeom>
          <a:noFill/>
          <a:ln cap="flat" cmpd="sng" w="635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d1fe792733_1_74"/>
          <p:cNvSpPr/>
          <p:nvPr/>
        </p:nvSpPr>
        <p:spPr>
          <a:xfrm>
            <a:off x="1007612" y="10051157"/>
            <a:ext cx="2844000" cy="10032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Cognitive Agents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d1fe792733_1_74"/>
          <p:cNvSpPr/>
          <p:nvPr/>
        </p:nvSpPr>
        <p:spPr>
          <a:xfrm>
            <a:off x="1007612" y="11225152"/>
            <a:ext cx="2844000" cy="10032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Bayesian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d1fe792733_1_74"/>
          <p:cNvSpPr/>
          <p:nvPr/>
        </p:nvSpPr>
        <p:spPr>
          <a:xfrm>
            <a:off x="1222195" y="11061957"/>
            <a:ext cx="2414700" cy="1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9" name="Google Shape;179;g3d1fe792733_1_74"/>
          <p:cNvGrpSpPr/>
          <p:nvPr/>
        </p:nvGrpSpPr>
        <p:grpSpPr>
          <a:xfrm>
            <a:off x="4254138" y="10219972"/>
            <a:ext cx="3140094" cy="2006784"/>
            <a:chOff x="0" y="-133"/>
            <a:chExt cx="3140094" cy="2006784"/>
          </a:xfrm>
        </p:grpSpPr>
        <p:sp>
          <p:nvSpPr>
            <p:cNvPr id="180" name="Google Shape;180;g3d1fe792733_1_74"/>
            <p:cNvSpPr/>
            <p:nvPr/>
          </p:nvSpPr>
          <p:spPr>
            <a:xfrm>
              <a:off x="434413" y="0"/>
              <a:ext cx="2269800" cy="10032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Deep Learning Surrogate Model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d1fe792733_1_74"/>
            <p:cNvSpPr/>
            <p:nvPr/>
          </p:nvSpPr>
          <p:spPr>
            <a:xfrm>
              <a:off x="434413" y="1003451"/>
              <a:ext cx="2269800" cy="1003200"/>
            </a:xfrm>
            <a:prstGeom prst="rect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Helvetica Neue"/>
                <a:buNone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Bayesian Optimizer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d1fe792733_1_74"/>
            <p:cNvSpPr/>
            <p:nvPr/>
          </p:nvSpPr>
          <p:spPr>
            <a:xfrm rot="-5400000">
              <a:off x="-785100" y="784967"/>
              <a:ext cx="2006100" cy="435900"/>
            </a:xfrm>
            <a:prstGeom prst="rect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Constraints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d1fe792733_1_74"/>
            <p:cNvSpPr/>
            <p:nvPr/>
          </p:nvSpPr>
          <p:spPr>
            <a:xfrm rot="-5400000">
              <a:off x="1919094" y="784968"/>
              <a:ext cx="2006100" cy="435900"/>
            </a:xfrm>
            <a:prstGeom prst="rect">
              <a:avLst/>
            </a:prstGeom>
            <a:solidFill>
              <a:srgbClr val="000000"/>
            </a:solidFill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Helvetica Neue"/>
                <a:buNone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Objectives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4" name="Google Shape;184;g3d1fe792733_1_74"/>
          <p:cNvCxnSpPr/>
          <p:nvPr/>
        </p:nvCxnSpPr>
        <p:spPr>
          <a:xfrm>
            <a:off x="3860051" y="12226387"/>
            <a:ext cx="475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dashDot"/>
            <a:miter lim="400000"/>
            <a:headEnd len="sm" w="sm" type="none"/>
            <a:tailEnd len="sm" w="sm" type="none"/>
          </a:ln>
        </p:spPr>
      </p:cxnSp>
      <p:cxnSp>
        <p:nvCxnSpPr>
          <p:cNvPr id="185" name="Google Shape;185;g3d1fe792733_1_74"/>
          <p:cNvCxnSpPr/>
          <p:nvPr/>
        </p:nvCxnSpPr>
        <p:spPr>
          <a:xfrm flipH="1" rot="10800000">
            <a:off x="3844176" y="10220963"/>
            <a:ext cx="412500" cy="10053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dashDot"/>
            <a:miter lim="400000"/>
            <a:headEnd len="sm" w="sm" type="none"/>
            <a:tailEnd len="sm" w="sm" type="none"/>
          </a:ln>
        </p:spPr>
      </p:cxnSp>
      <p:grpSp>
        <p:nvGrpSpPr>
          <p:cNvPr id="186" name="Google Shape;186;g3d1fe792733_1_74"/>
          <p:cNvGrpSpPr/>
          <p:nvPr/>
        </p:nvGrpSpPr>
        <p:grpSpPr>
          <a:xfrm>
            <a:off x="2023155" y="10741505"/>
            <a:ext cx="812700" cy="812700"/>
            <a:chOff x="0" y="0"/>
            <a:chExt cx="812700" cy="812700"/>
          </a:xfrm>
        </p:grpSpPr>
        <p:sp>
          <p:nvSpPr>
            <p:cNvPr id="187" name="Google Shape;187;g3d1fe792733_1_74"/>
            <p:cNvSpPr/>
            <p:nvPr/>
          </p:nvSpPr>
          <p:spPr>
            <a:xfrm>
              <a:off x="0" y="0"/>
              <a:ext cx="812700" cy="8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88" name="Google Shape;188;g3d1fe792733_1_74"/>
            <p:cNvSpPr/>
            <p:nvPr/>
          </p:nvSpPr>
          <p:spPr>
            <a:xfrm>
              <a:off x="66807" y="132958"/>
              <a:ext cx="679212" cy="546858"/>
            </a:xfrm>
            <a:custGeom>
              <a:rect b="b" l="l" r="r" t="t"/>
              <a:pathLst>
                <a:path extrusionOk="0" h="21600" w="2160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89" name="Google Shape;189;g3d1fe792733_1_74"/>
          <p:cNvSpPr/>
          <p:nvPr/>
        </p:nvSpPr>
        <p:spPr>
          <a:xfrm>
            <a:off x="3417575" y="537200"/>
            <a:ext cx="20753400" cy="10048875"/>
          </a:xfrm>
          <a:custGeom>
            <a:rect b="b" l="l" r="r" t="t"/>
            <a:pathLst>
              <a:path extrusionOk="0" h="401955" w="830136">
                <a:moveTo>
                  <a:pt x="820303" y="401955"/>
                </a:moveTo>
                <a:lnTo>
                  <a:pt x="830136" y="401955"/>
                </a:lnTo>
                <a:lnTo>
                  <a:pt x="829513" y="0"/>
                </a:lnTo>
                <a:lnTo>
                  <a:pt x="0" y="0"/>
                </a:lnTo>
                <a:lnTo>
                  <a:pt x="0" y="43788"/>
                </a:lnTo>
              </a:path>
            </a:pathLst>
          </a:custGeom>
          <a:noFill/>
          <a:ln cap="flat" cmpd="sng" w="50800">
            <a:solidFill>
              <a:srgbClr val="016D01"/>
            </a:solidFill>
            <a:prstDash val="dot"/>
            <a:miter lim="400000"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g3d1fe792733_1_74"/>
          <p:cNvSpPr txBox="1"/>
          <p:nvPr/>
        </p:nvSpPr>
        <p:spPr>
          <a:xfrm>
            <a:off x="13334438" y="46182"/>
            <a:ext cx="4657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AI-driven projects</a:t>
            </a:r>
            <a:endParaRPr b="0" i="0" sz="1400" u="none" cap="none" strike="noStrike">
              <a:solidFill>
                <a:srgbClr val="016D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g3d1fe792733_1_74"/>
          <p:cNvCxnSpPr/>
          <p:nvPr/>
        </p:nvCxnSpPr>
        <p:spPr>
          <a:xfrm>
            <a:off x="18198482" y="6099048"/>
            <a:ext cx="6921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miter lim="400000"/>
            <a:headEnd len="med" w="med" type="triangle"/>
            <a:tailEnd len="med" w="med" type="triangle"/>
          </a:ln>
        </p:spPr>
      </p:cxnSp>
      <p:sp>
        <p:nvSpPr>
          <p:cNvPr id="192" name="Google Shape;192;g3d1fe792733_1_74"/>
          <p:cNvSpPr/>
          <p:nvPr/>
        </p:nvSpPr>
        <p:spPr>
          <a:xfrm rot="-5400000">
            <a:off x="15352594" y="4203156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g3d1fe792733_1_74"/>
          <p:cNvSpPr/>
          <p:nvPr/>
        </p:nvSpPr>
        <p:spPr>
          <a:xfrm rot="5400000">
            <a:off x="9570845" y="4203055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g3d1fe792733_1_74"/>
          <p:cNvSpPr/>
          <p:nvPr/>
        </p:nvSpPr>
        <p:spPr>
          <a:xfrm>
            <a:off x="12387642" y="5752973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g3d1fe792733_1_74"/>
          <p:cNvSpPr/>
          <p:nvPr/>
        </p:nvSpPr>
        <p:spPr>
          <a:xfrm>
            <a:off x="6567640" y="2625750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g3d1fe792733_1_74"/>
          <p:cNvSpPr/>
          <p:nvPr/>
        </p:nvSpPr>
        <p:spPr>
          <a:xfrm>
            <a:off x="16555997" y="961120"/>
            <a:ext cx="521100" cy="521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g3d1fe792733_1_74"/>
          <p:cNvSpPr txBox="1"/>
          <p:nvPr/>
        </p:nvSpPr>
        <p:spPr>
          <a:xfrm>
            <a:off x="17142185" y="976420"/>
            <a:ext cx="18930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 Scientist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d1fe792733_1_74"/>
          <p:cNvSpPr/>
          <p:nvPr/>
        </p:nvSpPr>
        <p:spPr>
          <a:xfrm>
            <a:off x="19539484" y="961120"/>
            <a:ext cx="521100" cy="52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g3d1fe792733_1_74"/>
          <p:cNvSpPr txBox="1"/>
          <p:nvPr/>
        </p:nvSpPr>
        <p:spPr>
          <a:xfrm>
            <a:off x="20124124" y="976420"/>
            <a:ext cx="12606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g3d1fe792733_1_74"/>
          <p:cNvGrpSpPr/>
          <p:nvPr/>
        </p:nvGrpSpPr>
        <p:grpSpPr>
          <a:xfrm>
            <a:off x="21889023" y="961120"/>
            <a:ext cx="2000351" cy="521100"/>
            <a:chOff x="21741221" y="961120"/>
            <a:chExt cx="2000351" cy="521100"/>
          </a:xfrm>
        </p:grpSpPr>
        <p:sp>
          <p:nvSpPr>
            <p:cNvPr id="201" name="Google Shape;201;g3d1fe792733_1_74"/>
            <p:cNvSpPr/>
            <p:nvPr/>
          </p:nvSpPr>
          <p:spPr>
            <a:xfrm>
              <a:off x="21741221" y="961120"/>
              <a:ext cx="521100" cy="521100"/>
            </a:xfrm>
            <a:prstGeom prst="rect">
              <a:avLst/>
            </a:prstGeom>
            <a:solidFill>
              <a:srgbClr val="016D01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2" name="Google Shape;202;g3d1fe792733_1_74"/>
            <p:cNvSpPr txBox="1"/>
            <p:nvPr/>
          </p:nvSpPr>
          <p:spPr>
            <a:xfrm>
              <a:off x="22330672" y="976420"/>
              <a:ext cx="1410900" cy="4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Helvetica Neue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Impact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g3d1fe792733_1_74"/>
          <p:cNvSpPr/>
          <p:nvPr/>
        </p:nvSpPr>
        <p:spPr>
          <a:xfrm>
            <a:off x="18168002" y="2625426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g3d1fe792733_1_74"/>
          <p:cNvSpPr/>
          <p:nvPr/>
        </p:nvSpPr>
        <p:spPr>
          <a:xfrm rot="5400000">
            <a:off x="21171476" y="4203055"/>
            <a:ext cx="584100" cy="692100"/>
          </a:xfrm>
          <a:prstGeom prst="rightArrow">
            <a:avLst>
              <a:gd fmla="val 32000" name="adj1"/>
              <a:gd fmla="val 7596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g3d1fe792733_1_74"/>
          <p:cNvSpPr txBox="1"/>
          <p:nvPr/>
        </p:nvSpPr>
        <p:spPr>
          <a:xfrm>
            <a:off x="638460" y="8854125"/>
            <a:ext cx="189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objectives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g3d1fe792733_1_74"/>
          <p:cNvSpPr txBox="1"/>
          <p:nvPr/>
        </p:nvSpPr>
        <p:spPr>
          <a:xfrm>
            <a:off x="2430684" y="8854125"/>
            <a:ext cx="189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interpretation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g3d1fe792733_1_74"/>
          <p:cNvSpPr txBox="1"/>
          <p:nvPr/>
        </p:nvSpPr>
        <p:spPr>
          <a:xfrm>
            <a:off x="638460" y="12570605"/>
            <a:ext cx="189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formulations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g3d1fe792733_1_74"/>
          <p:cNvSpPr txBox="1"/>
          <p:nvPr/>
        </p:nvSpPr>
        <p:spPr>
          <a:xfrm>
            <a:off x="2430684" y="12570605"/>
            <a:ext cx="189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Experiments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9" name="Google Shape;209;g3d1fe792733_1_74"/>
          <p:cNvCxnSpPr/>
          <p:nvPr/>
        </p:nvCxnSpPr>
        <p:spPr>
          <a:xfrm flipH="1">
            <a:off x="1579451" y="9651755"/>
            <a:ext cx="300" cy="40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" name="Google Shape;210;g3d1fe792733_1_74"/>
          <p:cNvCxnSpPr/>
          <p:nvPr/>
        </p:nvCxnSpPr>
        <p:spPr>
          <a:xfrm rot="10800000">
            <a:off x="3378677" y="9657295"/>
            <a:ext cx="1200" cy="38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1" name="Google Shape;211;g3d1fe792733_1_74"/>
          <p:cNvCxnSpPr/>
          <p:nvPr/>
        </p:nvCxnSpPr>
        <p:spPr>
          <a:xfrm>
            <a:off x="1579451" y="12228605"/>
            <a:ext cx="75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" name="Google Shape;212;g3d1fe792733_1_74"/>
          <p:cNvCxnSpPr/>
          <p:nvPr/>
        </p:nvCxnSpPr>
        <p:spPr>
          <a:xfrm rot="10800000">
            <a:off x="3378077" y="12233245"/>
            <a:ext cx="1800" cy="34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g3d1fe792733_1_74"/>
          <p:cNvSpPr/>
          <p:nvPr/>
        </p:nvSpPr>
        <p:spPr>
          <a:xfrm>
            <a:off x="1222200" y="4884475"/>
            <a:ext cx="3020700" cy="37653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himizu 2001.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-Li et al, 2014.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-Lavickova 2019.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bnext Info.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- 6/30/25 meeting notes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PURE ppt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g3d1fe792733_1_74"/>
          <p:cNvSpPr/>
          <p:nvPr/>
        </p:nvSpPr>
        <p:spPr>
          <a:xfrm>
            <a:off x="12367815" y="2625750"/>
            <a:ext cx="753000" cy="692100"/>
          </a:xfrm>
          <a:prstGeom prst="rightArrow">
            <a:avLst>
              <a:gd fmla="val 32000" name="adj1"/>
              <a:gd fmla="val 64117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g3d1fe792733_1_74"/>
          <p:cNvSpPr/>
          <p:nvPr/>
        </p:nvSpPr>
        <p:spPr>
          <a:xfrm>
            <a:off x="4360600" y="4884475"/>
            <a:ext cx="2844000" cy="1214700"/>
          </a:xfrm>
          <a:prstGeom prst="roundRect">
            <a:avLst>
              <a:gd fmla="val 19286" name="adj"/>
            </a:avLst>
          </a:prstGeom>
          <a:noFill/>
          <a:ln cap="flat" cmpd="sng" w="762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Experiments</a:t>
            </a:r>
            <a:endParaRPr b="1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-Initial dataset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6" name="Google Shape;216;g3d1fe792733_1_74"/>
          <p:cNvCxnSpPr>
            <a:stCxn id="215" idx="0"/>
            <a:endCxn id="161" idx="2"/>
          </p:cNvCxnSpPr>
          <p:nvPr/>
        </p:nvCxnSpPr>
        <p:spPr>
          <a:xfrm flipH="1" rot="5400000">
            <a:off x="4589950" y="3691825"/>
            <a:ext cx="665400" cy="1719900"/>
          </a:xfrm>
          <a:prstGeom prst="bentConnector3">
            <a:avLst>
              <a:gd fmla="val 50005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217" name="Google Shape;217;g3d1fe792733_1_74"/>
          <p:cNvCxnSpPr>
            <a:stCxn id="213" idx="0"/>
            <a:endCxn id="161" idx="2"/>
          </p:cNvCxnSpPr>
          <p:nvPr/>
        </p:nvCxnSpPr>
        <p:spPr>
          <a:xfrm rot="-5400000">
            <a:off x="3064800" y="3886825"/>
            <a:ext cx="665400" cy="1329900"/>
          </a:xfrm>
          <a:prstGeom prst="bentConnector3">
            <a:avLst>
              <a:gd fmla="val 50005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18" name="Google Shape;218;g3d1fe792733_1_74"/>
          <p:cNvSpPr txBox="1"/>
          <p:nvPr/>
        </p:nvSpPr>
        <p:spPr>
          <a:xfrm>
            <a:off x="4433300" y="8975488"/>
            <a:ext cx="336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Jost"/>
                <a:ea typeface="Jost"/>
                <a:cs typeface="Jost"/>
                <a:sym typeface="Jost"/>
              </a:rPr>
              <a:t>IGOR Overview</a:t>
            </a:r>
            <a:endParaRPr b="1" i="0" sz="32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9" name="Google Shape;219;g3d1fe792733_1_74"/>
          <p:cNvSpPr/>
          <p:nvPr/>
        </p:nvSpPr>
        <p:spPr>
          <a:xfrm>
            <a:off x="12842825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Helvetica Neue"/>
              <a:buChar char="‣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Hand pipetted</a:t>
            </a:r>
            <a:endParaRPr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g3d1fe792733_1_74"/>
          <p:cNvSpPr/>
          <p:nvPr/>
        </p:nvSpPr>
        <p:spPr>
          <a:xfrm>
            <a:off x="16523673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lang="en-US" sz="2800">
                <a:latin typeface="Helvetica Neue"/>
                <a:ea typeface="Helvetica Neue"/>
                <a:cs typeface="Helvetica Neue"/>
                <a:sym typeface="Helvetica Neue"/>
              </a:rPr>
              <a:t>Learnings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Proved IGOR could find signal despite sparse &amp; noisy data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IGOR suggested two plausible hypotheses for further rounds.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g3d1fe792733_1_74"/>
          <p:cNvSpPr/>
          <p:nvPr/>
        </p:nvSpPr>
        <p:spPr>
          <a:xfrm>
            <a:off x="20204520" y="9717595"/>
            <a:ext cx="36651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 b="1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‣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96 exp obs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‣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4 inputs / 1 output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2" name="Google Shape;222;g3d1fe792733_1_74"/>
          <p:cNvCxnSpPr>
            <a:stCxn id="171" idx="2"/>
            <a:endCxn id="220" idx="0"/>
          </p:cNvCxnSpPr>
          <p:nvPr/>
        </p:nvCxnSpPr>
        <p:spPr>
          <a:xfrm rot="5400000">
            <a:off x="18716370" y="6988986"/>
            <a:ext cx="2368500" cy="3088800"/>
          </a:xfrm>
          <a:prstGeom prst="bentConnector3">
            <a:avLst>
              <a:gd fmla="val 49998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223" name="Google Shape;223;g3d1fe792733_1_74"/>
          <p:cNvCxnSpPr>
            <a:stCxn id="171" idx="2"/>
            <a:endCxn id="219" idx="0"/>
          </p:cNvCxnSpPr>
          <p:nvPr/>
        </p:nvCxnSpPr>
        <p:spPr>
          <a:xfrm rot="5400000">
            <a:off x="16876020" y="5148636"/>
            <a:ext cx="2368500" cy="6769500"/>
          </a:xfrm>
          <a:prstGeom prst="bentConnector3">
            <a:avLst>
              <a:gd fmla="val 49998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224" name="Google Shape;224;g3d1fe792733_1_74"/>
          <p:cNvCxnSpPr>
            <a:endCxn id="221" idx="0"/>
          </p:cNvCxnSpPr>
          <p:nvPr/>
        </p:nvCxnSpPr>
        <p:spPr>
          <a:xfrm flipH="1" rot="-5400000">
            <a:off x="20556720" y="8237245"/>
            <a:ext cx="2368500" cy="592200"/>
          </a:xfrm>
          <a:prstGeom prst="bentConnector3">
            <a:avLst>
              <a:gd fmla="val 49999" name="adj1"/>
            </a:avLst>
          </a:prstGeom>
          <a:noFill/>
          <a:ln cap="flat" cmpd="sng" w="508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25" name="Google Shape;225;g3d1fe792733_1_74"/>
          <p:cNvSpPr/>
          <p:nvPr/>
        </p:nvSpPr>
        <p:spPr>
          <a:xfrm>
            <a:off x="8030150" y="9725204"/>
            <a:ext cx="4516200" cy="3644400"/>
          </a:xfrm>
          <a:prstGeom prst="roundRect">
            <a:avLst>
              <a:gd fmla="val 0" name="adj"/>
            </a:avLst>
          </a:prstGeom>
          <a:noFill/>
          <a:ln cap="flat" cmpd="sng" w="63500">
            <a:solidFill>
              <a:srgbClr val="016D0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152400" lIns="152400" spcFirstLastPara="1" rIns="152400" wrap="square" tIns="1524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b="0" i="0" lang="en-US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Transitioning from the baseline PURE system to PPK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‣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Suggesting a decoupled, inverse relationship between magnesium and ribosomes.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g3d1fe792733_1_74"/>
          <p:cNvSpPr/>
          <p:nvPr/>
        </p:nvSpPr>
        <p:spPr>
          <a:xfrm rot="-5400000">
            <a:off x="12540416" y="9920137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g3d1fe792733_1_74"/>
          <p:cNvSpPr/>
          <p:nvPr/>
        </p:nvSpPr>
        <p:spPr>
          <a:xfrm rot="-5400000">
            <a:off x="12540416" y="10406881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8" name="Google Shape;228;g3d1fe792733_1_74"/>
          <p:cNvSpPr/>
          <p:nvPr/>
        </p:nvSpPr>
        <p:spPr>
          <a:xfrm rot="-5400000">
            <a:off x="12540416" y="10889583"/>
            <a:ext cx="359802" cy="213354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016D0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9" name="Google Shape;229;g3d1fe792733_1_74"/>
          <p:cNvCxnSpPr/>
          <p:nvPr/>
        </p:nvCxnSpPr>
        <p:spPr>
          <a:xfrm flipH="1">
            <a:off x="21444926" y="4257055"/>
            <a:ext cx="18600" cy="3092100"/>
          </a:xfrm>
          <a:prstGeom prst="straightConnector1">
            <a:avLst/>
          </a:prstGeom>
          <a:noFill/>
          <a:ln cap="flat" cmpd="sng" w="38100">
            <a:solidFill>
              <a:srgbClr val="016D0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g3d1fe792733_1_74"/>
          <p:cNvSpPr txBox="1"/>
          <p:nvPr/>
        </p:nvSpPr>
        <p:spPr>
          <a:xfrm>
            <a:off x="0" y="0"/>
            <a:ext cx="25317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</a:pPr>
            <a:r>
              <a:rPr lang="en-US" sz="3000">
                <a:latin typeface="Helvetica Neue"/>
                <a:ea typeface="Helvetica Neue"/>
                <a:cs typeface="Helvetica Neue"/>
                <a:sym typeface="Helvetica Neue"/>
              </a:rPr>
              <a:t>Initial Results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