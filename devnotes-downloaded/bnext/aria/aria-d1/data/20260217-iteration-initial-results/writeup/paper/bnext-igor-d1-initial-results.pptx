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13716000" cx="24384000"/>
  <p:notesSz cx="6858000" cy="9144000"/>
  <p:embeddedFontLst>
    <p:embeddedFont>
      <p:font typeface="Jost"/>
      <p:regular r:id="rId7"/>
      <p:bold r:id="rId8"/>
      <p:italic r:id="rId9"/>
      <p:boldItalic r:id="rId10"/>
    </p:embeddedFon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Oypjgizunh0CFUSbRFNNcUFu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font" Target="fonts/Jost-boldItalic.fntdata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Jost-italic.fntdata"/><Relationship Id="rId15" Type="http://customschemas.google.com/relationships/presentationmetadata" Target="metadata"/><Relationship Id="rId14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Jost-regular.fntdata"/><Relationship Id="rId8" Type="http://schemas.openxmlformats.org/officeDocument/2006/relationships/font" Target="fonts/Jos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fe6bbf1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d1fe6bbf1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93caca59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93caca59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>
  <p:cSld name="Title &amp; Phot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7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8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8" name="Google Shape;38;p11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Small">
  <p:cSld name="Title, Bullets &amp; Live Video Small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Large">
  <p:cSld name="Title, Bullets &amp; Live Video Larg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4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fe6bbf1d_0_0"/>
          <p:cNvSpPr/>
          <p:nvPr/>
        </p:nvSpPr>
        <p:spPr>
          <a:xfrm>
            <a:off x="1540489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Ideation &amp; Hypothesis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“IG” Analyze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“OR” synthesize project, literature, data, designs, and context. Generate and rank novel, testable hypotheses.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3d1fe6bbf1d_0_0"/>
          <p:cNvSpPr/>
          <p:nvPr/>
        </p:nvSpPr>
        <p:spPr>
          <a:xfrm>
            <a:off x="7340805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Experiments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 grounds agent output to data.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Hypotheses translated to experimental designs.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g3d1fe6bbf1d_0_0"/>
          <p:cNvSpPr txBox="1"/>
          <p:nvPr/>
        </p:nvSpPr>
        <p:spPr>
          <a:xfrm rot="-5400000">
            <a:off x="-741050" y="2569975"/>
            <a:ext cx="2531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1fe6bbf1d_0_0"/>
          <p:cNvSpPr txBox="1"/>
          <p:nvPr/>
        </p:nvSpPr>
        <p:spPr>
          <a:xfrm rot="-5400000">
            <a:off x="-728750" y="5704025"/>
            <a:ext cx="2507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d1fe6bbf1d_0_0"/>
          <p:cNvSpPr/>
          <p:nvPr/>
        </p:nvSpPr>
        <p:spPr>
          <a:xfrm>
            <a:off x="963392" y="1691700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d1fe6bbf1d_0_0"/>
          <p:cNvSpPr/>
          <p:nvPr/>
        </p:nvSpPr>
        <p:spPr>
          <a:xfrm>
            <a:off x="963392" y="4818948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d1fe6bbf1d_0_0"/>
          <p:cNvSpPr/>
          <p:nvPr/>
        </p:nvSpPr>
        <p:spPr>
          <a:xfrm>
            <a:off x="7322291" y="485408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CCCCCC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Platform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high-throughput cell-free pipeline.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to IGOR via Cell Developer Kit (CDK).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d1fe6bbf1d_0_0"/>
          <p:cNvSpPr/>
          <p:nvPr/>
        </p:nvSpPr>
        <p:spPr>
          <a:xfrm>
            <a:off x="13122605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CCCCCC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Platform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hr experiment turn-around time for next iteration hand-off to foundry.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g3d1fe6bbf1d_0_0"/>
          <p:cNvSpPr/>
          <p:nvPr/>
        </p:nvSpPr>
        <p:spPr>
          <a:xfrm>
            <a:off x="13141120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adjusts goals, priors,ect and IGOR updates against quantitative ground-truth and refines hypotheses.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d1fe6bbf1d_0_0"/>
          <p:cNvSpPr/>
          <p:nvPr/>
        </p:nvSpPr>
        <p:spPr>
          <a:xfrm>
            <a:off x="18941436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takes experimenters notes, IGOR outputs, and turns into a draft.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edits the draft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d1fe6bbf1d_0_0"/>
          <p:cNvSpPr/>
          <p:nvPr/>
        </p:nvSpPr>
        <p:spPr>
          <a:xfrm>
            <a:off x="18922920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Notes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rapidly shared as interactive publications, backed by computable open data.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g3d1fe6bbf1d_0_0"/>
          <p:cNvCxnSpPr>
            <a:stCxn id="94" idx="0"/>
            <a:endCxn id="86" idx="0"/>
          </p:cNvCxnSpPr>
          <p:nvPr/>
        </p:nvCxnSpPr>
        <p:spPr>
          <a:xfrm rot="5400000">
            <a:off x="9862570" y="-4076148"/>
            <a:ext cx="600" cy="11600700"/>
          </a:xfrm>
          <a:prstGeom prst="bentConnector3">
            <a:avLst>
              <a:gd fmla="val -73083667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98" name="Google Shape;98;g3d1fe6bbf1d_0_0"/>
          <p:cNvSpPr txBox="1"/>
          <p:nvPr/>
        </p:nvSpPr>
        <p:spPr>
          <a:xfrm>
            <a:off x="4062525" y="706271"/>
            <a:ext cx="11600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with Human-in-the-loop</a:t>
            </a:r>
            <a:endParaRPr b="0" i="0" sz="2800" u="none" cap="none" strike="noStrik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d1fe6bbf1d_0_0"/>
          <p:cNvSpPr/>
          <p:nvPr/>
        </p:nvSpPr>
        <p:spPr>
          <a:xfrm>
            <a:off x="15234133" y="-2865474"/>
            <a:ext cx="8391300" cy="2160600"/>
          </a:xfrm>
          <a:prstGeom prst="roundRect">
            <a:avLst>
              <a:gd fmla="val 14121" name="adj"/>
            </a:avLst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Re-use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data (AI ecosystem)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conclusions (scientists)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enablement (cell-free upgrades)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1fe6bbf1d_0_0"/>
          <p:cNvSpPr/>
          <p:nvPr/>
        </p:nvSpPr>
        <p:spPr>
          <a:xfrm>
            <a:off x="284825" y="8854125"/>
            <a:ext cx="7518300" cy="4566300"/>
          </a:xfrm>
          <a:prstGeom prst="roundRect">
            <a:avLst>
              <a:gd fmla="val 5244" name="adj"/>
            </a:avLst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d1fe6bbf1d_0_0"/>
          <p:cNvSpPr/>
          <p:nvPr/>
        </p:nvSpPr>
        <p:spPr>
          <a:xfrm>
            <a:off x="1007612" y="10051157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Cognitive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1fe6bbf1d_0_0"/>
          <p:cNvSpPr/>
          <p:nvPr/>
        </p:nvSpPr>
        <p:spPr>
          <a:xfrm>
            <a:off x="1007612" y="11225152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d1fe6bbf1d_0_0"/>
          <p:cNvSpPr/>
          <p:nvPr/>
        </p:nvSpPr>
        <p:spPr>
          <a:xfrm>
            <a:off x="1222195" y="11061957"/>
            <a:ext cx="2414700" cy="1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4" name="Google Shape;104;g3d1fe6bbf1d_0_0"/>
          <p:cNvGrpSpPr/>
          <p:nvPr/>
        </p:nvGrpSpPr>
        <p:grpSpPr>
          <a:xfrm>
            <a:off x="4254138" y="10219972"/>
            <a:ext cx="3140094" cy="2006784"/>
            <a:chOff x="0" y="-133"/>
            <a:chExt cx="3140094" cy="2006784"/>
          </a:xfrm>
        </p:grpSpPr>
        <p:sp>
          <p:nvSpPr>
            <p:cNvPr id="105" name="Google Shape;105;g3d1fe6bbf1d_0_0"/>
            <p:cNvSpPr/>
            <p:nvPr/>
          </p:nvSpPr>
          <p:spPr>
            <a:xfrm>
              <a:off x="434413" y="0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Deep Learning Surrogate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d1fe6bbf1d_0_0"/>
            <p:cNvSpPr/>
            <p:nvPr/>
          </p:nvSpPr>
          <p:spPr>
            <a:xfrm>
              <a:off x="434413" y="1003451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Bayesian Optimizer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d1fe6bbf1d_0_0"/>
            <p:cNvSpPr/>
            <p:nvPr/>
          </p:nvSpPr>
          <p:spPr>
            <a:xfrm rot="-5400000">
              <a:off x="-785100" y="784967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Constraints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d1fe6bbf1d_0_0"/>
            <p:cNvSpPr/>
            <p:nvPr/>
          </p:nvSpPr>
          <p:spPr>
            <a:xfrm rot="-5400000">
              <a:off x="1919094" y="784968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Objectives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9" name="Google Shape;109;g3d1fe6bbf1d_0_0"/>
          <p:cNvCxnSpPr/>
          <p:nvPr/>
        </p:nvCxnSpPr>
        <p:spPr>
          <a:xfrm>
            <a:off x="3860051" y="12226387"/>
            <a:ext cx="475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cxnSp>
        <p:nvCxnSpPr>
          <p:cNvPr id="110" name="Google Shape;110;g3d1fe6bbf1d_0_0"/>
          <p:cNvCxnSpPr/>
          <p:nvPr/>
        </p:nvCxnSpPr>
        <p:spPr>
          <a:xfrm flipH="1" rot="10800000">
            <a:off x="3844176" y="10220963"/>
            <a:ext cx="412500" cy="1005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grpSp>
        <p:nvGrpSpPr>
          <p:cNvPr id="111" name="Google Shape;111;g3d1fe6bbf1d_0_0"/>
          <p:cNvGrpSpPr/>
          <p:nvPr/>
        </p:nvGrpSpPr>
        <p:grpSpPr>
          <a:xfrm>
            <a:off x="2023155" y="10741505"/>
            <a:ext cx="812700" cy="812700"/>
            <a:chOff x="0" y="0"/>
            <a:chExt cx="812700" cy="812700"/>
          </a:xfrm>
        </p:grpSpPr>
        <p:sp>
          <p:nvSpPr>
            <p:cNvPr id="112" name="Google Shape;112;g3d1fe6bbf1d_0_0"/>
            <p:cNvSpPr/>
            <p:nvPr/>
          </p:nvSpPr>
          <p:spPr>
            <a:xfrm>
              <a:off x="0" y="0"/>
              <a:ext cx="812700" cy="8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" name="Google Shape;113;g3d1fe6bbf1d_0_0"/>
            <p:cNvSpPr/>
            <p:nvPr/>
          </p:nvSpPr>
          <p:spPr>
            <a:xfrm>
              <a:off x="66807" y="132958"/>
              <a:ext cx="679212" cy="546858"/>
            </a:xfrm>
            <a:custGeom>
              <a:rect b="b" l="l" r="r" t="t"/>
              <a:pathLst>
                <a:path extrusionOk="0" h="21600" w="2160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4" name="Google Shape;114;g3d1fe6bbf1d_0_0"/>
          <p:cNvSpPr/>
          <p:nvPr/>
        </p:nvSpPr>
        <p:spPr>
          <a:xfrm>
            <a:off x="3417575" y="537200"/>
            <a:ext cx="20753400" cy="10048875"/>
          </a:xfrm>
          <a:custGeom>
            <a:rect b="b" l="l" r="r" t="t"/>
            <a:pathLst>
              <a:path extrusionOk="0" h="401955" w="830136">
                <a:moveTo>
                  <a:pt x="820303" y="401955"/>
                </a:moveTo>
                <a:lnTo>
                  <a:pt x="830136" y="401955"/>
                </a:lnTo>
                <a:lnTo>
                  <a:pt x="829513" y="0"/>
                </a:lnTo>
                <a:lnTo>
                  <a:pt x="0" y="0"/>
                </a:lnTo>
                <a:lnTo>
                  <a:pt x="0" y="43788"/>
                </a:lnTo>
              </a:path>
            </a:pathLst>
          </a:custGeom>
          <a:noFill/>
          <a:ln cap="flat" cmpd="sng" w="50800">
            <a:solidFill>
              <a:srgbClr val="016D01"/>
            </a:solidFill>
            <a:prstDash val="dot"/>
            <a:miter lim="400000"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g3d1fe6bbf1d_0_0"/>
          <p:cNvSpPr txBox="1"/>
          <p:nvPr/>
        </p:nvSpPr>
        <p:spPr>
          <a:xfrm>
            <a:off x="13334438" y="46182"/>
            <a:ext cx="4657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AI-driven projects</a:t>
            </a:r>
            <a:endParaRPr b="0" i="0" sz="1400" u="none" cap="none" strike="noStrike">
              <a:solidFill>
                <a:srgbClr val="016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g3d1fe6bbf1d_0_0"/>
          <p:cNvCxnSpPr/>
          <p:nvPr/>
        </p:nvCxnSpPr>
        <p:spPr>
          <a:xfrm>
            <a:off x="18198482" y="6099048"/>
            <a:ext cx="6921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miter lim="400000"/>
            <a:headEnd len="med" w="med" type="triangle"/>
            <a:tailEnd len="med" w="med" type="triangle"/>
          </a:ln>
        </p:spPr>
      </p:cxnSp>
      <p:sp>
        <p:nvSpPr>
          <p:cNvPr id="117" name="Google Shape;117;g3d1fe6bbf1d_0_0"/>
          <p:cNvSpPr/>
          <p:nvPr/>
        </p:nvSpPr>
        <p:spPr>
          <a:xfrm rot="-5400000">
            <a:off x="15352594" y="4203156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d1fe6bbf1d_0_0"/>
          <p:cNvSpPr/>
          <p:nvPr/>
        </p:nvSpPr>
        <p:spPr>
          <a:xfrm rot="5400000">
            <a:off x="9570845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d1fe6bbf1d_0_0"/>
          <p:cNvSpPr/>
          <p:nvPr/>
        </p:nvSpPr>
        <p:spPr>
          <a:xfrm>
            <a:off x="12387642" y="5752973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g3d1fe6bbf1d_0_0"/>
          <p:cNvSpPr/>
          <p:nvPr/>
        </p:nvSpPr>
        <p:spPr>
          <a:xfrm>
            <a:off x="6567640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d1fe6bbf1d_0_0"/>
          <p:cNvSpPr/>
          <p:nvPr/>
        </p:nvSpPr>
        <p:spPr>
          <a:xfrm>
            <a:off x="16555997" y="961120"/>
            <a:ext cx="521100" cy="52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3d1fe6bbf1d_0_0"/>
          <p:cNvSpPr txBox="1"/>
          <p:nvPr/>
        </p:nvSpPr>
        <p:spPr>
          <a:xfrm>
            <a:off x="17142185" y="976420"/>
            <a:ext cx="1893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1fe6bbf1d_0_0"/>
          <p:cNvSpPr/>
          <p:nvPr/>
        </p:nvSpPr>
        <p:spPr>
          <a:xfrm>
            <a:off x="19539484" y="961120"/>
            <a:ext cx="521100" cy="5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g3d1fe6bbf1d_0_0"/>
          <p:cNvSpPr txBox="1"/>
          <p:nvPr/>
        </p:nvSpPr>
        <p:spPr>
          <a:xfrm>
            <a:off x="20124124" y="976420"/>
            <a:ext cx="1260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g3d1fe6bbf1d_0_0"/>
          <p:cNvGrpSpPr/>
          <p:nvPr/>
        </p:nvGrpSpPr>
        <p:grpSpPr>
          <a:xfrm>
            <a:off x="21889023" y="961120"/>
            <a:ext cx="2000351" cy="521100"/>
            <a:chOff x="21741221" y="961120"/>
            <a:chExt cx="2000351" cy="521100"/>
          </a:xfrm>
        </p:grpSpPr>
        <p:sp>
          <p:nvSpPr>
            <p:cNvPr id="126" name="Google Shape;126;g3d1fe6bbf1d_0_0"/>
            <p:cNvSpPr/>
            <p:nvPr/>
          </p:nvSpPr>
          <p:spPr>
            <a:xfrm>
              <a:off x="21741221" y="961120"/>
              <a:ext cx="521100" cy="521100"/>
            </a:xfrm>
            <a:prstGeom prst="rect">
              <a:avLst/>
            </a:prstGeom>
            <a:solidFill>
              <a:srgbClr val="016D0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" name="Google Shape;127;g3d1fe6bbf1d_0_0"/>
            <p:cNvSpPr txBox="1"/>
            <p:nvPr/>
          </p:nvSpPr>
          <p:spPr>
            <a:xfrm>
              <a:off x="22330672" y="976420"/>
              <a:ext cx="14109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Helvetica Neue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g3d1fe6bbf1d_0_0"/>
          <p:cNvSpPr/>
          <p:nvPr/>
        </p:nvSpPr>
        <p:spPr>
          <a:xfrm>
            <a:off x="18168002" y="2625426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d1fe6bbf1d_0_0"/>
          <p:cNvSpPr/>
          <p:nvPr/>
        </p:nvSpPr>
        <p:spPr>
          <a:xfrm rot="5400000">
            <a:off x="21171476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d1fe6bbf1d_0_0"/>
          <p:cNvSpPr txBox="1"/>
          <p:nvPr/>
        </p:nvSpPr>
        <p:spPr>
          <a:xfrm>
            <a:off x="638460" y="885412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d1fe6bbf1d_0_0"/>
          <p:cNvSpPr txBox="1"/>
          <p:nvPr/>
        </p:nvSpPr>
        <p:spPr>
          <a:xfrm>
            <a:off x="2430684" y="885412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interpretation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d1fe6bbf1d_0_0"/>
          <p:cNvSpPr txBox="1"/>
          <p:nvPr/>
        </p:nvSpPr>
        <p:spPr>
          <a:xfrm>
            <a:off x="638460" y="1257060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formulations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d1fe6bbf1d_0_0"/>
          <p:cNvSpPr txBox="1"/>
          <p:nvPr/>
        </p:nvSpPr>
        <p:spPr>
          <a:xfrm>
            <a:off x="2430684" y="12570605"/>
            <a:ext cx="18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4" name="Google Shape;134;g3d1fe6bbf1d_0_0"/>
          <p:cNvCxnSpPr/>
          <p:nvPr/>
        </p:nvCxnSpPr>
        <p:spPr>
          <a:xfrm flipH="1">
            <a:off x="1579451" y="9651755"/>
            <a:ext cx="3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g3d1fe6bbf1d_0_0"/>
          <p:cNvCxnSpPr/>
          <p:nvPr/>
        </p:nvCxnSpPr>
        <p:spPr>
          <a:xfrm rot="10800000">
            <a:off x="3378677" y="9657295"/>
            <a:ext cx="1200" cy="38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" name="Google Shape;136;g3d1fe6bbf1d_0_0"/>
          <p:cNvCxnSpPr/>
          <p:nvPr/>
        </p:nvCxnSpPr>
        <p:spPr>
          <a:xfrm>
            <a:off x="1579451" y="12228605"/>
            <a:ext cx="75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g3d1fe6bbf1d_0_0"/>
          <p:cNvCxnSpPr/>
          <p:nvPr/>
        </p:nvCxnSpPr>
        <p:spPr>
          <a:xfrm rot="10800000">
            <a:off x="3378077" y="12233245"/>
            <a:ext cx="180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g3d1fe6bbf1d_0_0"/>
          <p:cNvSpPr/>
          <p:nvPr/>
        </p:nvSpPr>
        <p:spPr>
          <a:xfrm>
            <a:off x="1222200" y="4884475"/>
            <a:ext cx="3020700" cy="37653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himizu 2001.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-Li et al, 2014.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-Lavickova 2019.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bnext Info.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- 6/30/25 meeting notes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PURE ppt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g3d1fe6bbf1d_0_0"/>
          <p:cNvSpPr/>
          <p:nvPr/>
        </p:nvSpPr>
        <p:spPr>
          <a:xfrm>
            <a:off x="12367815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g3d1fe6bbf1d_0_0"/>
          <p:cNvSpPr/>
          <p:nvPr/>
        </p:nvSpPr>
        <p:spPr>
          <a:xfrm>
            <a:off x="4360600" y="4884475"/>
            <a:ext cx="28440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b="1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-Initial dataset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1" name="Google Shape;141;g3d1fe6bbf1d_0_0"/>
          <p:cNvCxnSpPr>
            <a:stCxn id="140" idx="0"/>
            <a:endCxn id="86" idx="2"/>
          </p:cNvCxnSpPr>
          <p:nvPr/>
        </p:nvCxnSpPr>
        <p:spPr>
          <a:xfrm flipH="1" rot="5400000">
            <a:off x="4589950" y="3691825"/>
            <a:ext cx="665400" cy="171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2" name="Google Shape;142;g3d1fe6bbf1d_0_0"/>
          <p:cNvCxnSpPr>
            <a:stCxn id="138" idx="0"/>
            <a:endCxn id="86" idx="2"/>
          </p:cNvCxnSpPr>
          <p:nvPr/>
        </p:nvCxnSpPr>
        <p:spPr>
          <a:xfrm rot="-5400000">
            <a:off x="3064800" y="3886825"/>
            <a:ext cx="665400" cy="132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43" name="Google Shape;143;g3d1fe6bbf1d_0_0"/>
          <p:cNvSpPr txBox="1"/>
          <p:nvPr/>
        </p:nvSpPr>
        <p:spPr>
          <a:xfrm>
            <a:off x="4433300" y="8975488"/>
            <a:ext cx="336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rPr>
              <a:t>IGOR Overview</a:t>
            </a:r>
            <a:endParaRPr b="1" i="0" sz="32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" name="Google Shape;144;g3d1fe6bbf1d_0_0"/>
          <p:cNvSpPr/>
          <p:nvPr/>
        </p:nvSpPr>
        <p:spPr>
          <a:xfrm>
            <a:off x="12842825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Hand pipetted</a:t>
            </a:r>
            <a:endParaRPr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d1fe6bbf1d_0_0"/>
          <p:cNvSpPr/>
          <p:nvPr/>
        </p:nvSpPr>
        <p:spPr>
          <a:xfrm>
            <a:off x="16523673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lang="en-US" sz="2800">
                <a:latin typeface="Helvetica Neue"/>
                <a:ea typeface="Helvetica Neue"/>
                <a:cs typeface="Helvetica Neue"/>
                <a:sym typeface="Helvetica Neue"/>
              </a:rPr>
              <a:t>Learnings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Showed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IGOR could find signal despite sparse &amp; noisy data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suggested two plausible hypotheses for further rounds.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3d1fe6bbf1d_0_0"/>
          <p:cNvSpPr/>
          <p:nvPr/>
        </p:nvSpPr>
        <p:spPr>
          <a:xfrm>
            <a:off x="20204520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b="1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96 exp obs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4 inputs / 1 output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7" name="Google Shape;147;g3d1fe6bbf1d_0_0"/>
          <p:cNvCxnSpPr>
            <a:stCxn id="96" idx="2"/>
            <a:endCxn id="145" idx="0"/>
          </p:cNvCxnSpPr>
          <p:nvPr/>
        </p:nvCxnSpPr>
        <p:spPr>
          <a:xfrm rot="5400000">
            <a:off x="18716370" y="6988986"/>
            <a:ext cx="2368500" cy="30888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8" name="Google Shape;148;g3d1fe6bbf1d_0_0"/>
          <p:cNvCxnSpPr>
            <a:stCxn id="96" idx="2"/>
            <a:endCxn id="144" idx="0"/>
          </p:cNvCxnSpPr>
          <p:nvPr/>
        </p:nvCxnSpPr>
        <p:spPr>
          <a:xfrm rot="5400000">
            <a:off x="16876020" y="5148636"/>
            <a:ext cx="2368500" cy="67695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9" name="Google Shape;149;g3d1fe6bbf1d_0_0"/>
          <p:cNvCxnSpPr>
            <a:endCxn id="146" idx="0"/>
          </p:cNvCxnSpPr>
          <p:nvPr/>
        </p:nvCxnSpPr>
        <p:spPr>
          <a:xfrm flipH="1" rot="-5400000">
            <a:off x="20556720" y="8237245"/>
            <a:ext cx="2368500" cy="592200"/>
          </a:xfrm>
          <a:prstGeom prst="bentConnector3">
            <a:avLst>
              <a:gd fmla="val 49999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50" name="Google Shape;150;g3d1fe6bbf1d_0_0"/>
          <p:cNvSpPr/>
          <p:nvPr/>
        </p:nvSpPr>
        <p:spPr>
          <a:xfrm>
            <a:off x="8030150" y="9725204"/>
            <a:ext cx="45162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Transitioning from the baseline PURE system to PPK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Suggesting a decoupled, inverse relationship between magnesium and ribosomes.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d1fe6bbf1d_0_0"/>
          <p:cNvSpPr/>
          <p:nvPr/>
        </p:nvSpPr>
        <p:spPr>
          <a:xfrm rot="-5400000">
            <a:off x="12540416" y="9920137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d1fe6bbf1d_0_0"/>
          <p:cNvSpPr/>
          <p:nvPr/>
        </p:nvSpPr>
        <p:spPr>
          <a:xfrm rot="-5400000">
            <a:off x="12540416" y="10406881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d1fe6bbf1d_0_0"/>
          <p:cNvSpPr/>
          <p:nvPr/>
        </p:nvSpPr>
        <p:spPr>
          <a:xfrm rot="-5400000">
            <a:off x="12540416" y="10889583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4" name="Google Shape;154;g3d1fe6bbf1d_0_0"/>
          <p:cNvCxnSpPr/>
          <p:nvPr/>
        </p:nvCxnSpPr>
        <p:spPr>
          <a:xfrm flipH="1">
            <a:off x="21444926" y="4257055"/>
            <a:ext cx="18600" cy="3092100"/>
          </a:xfrm>
          <a:prstGeom prst="straightConnector1">
            <a:avLst/>
          </a:prstGeom>
          <a:noFill/>
          <a:ln cap="flat" cmpd="sng" w="38100">
            <a:solidFill>
              <a:srgbClr val="016D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d1fe6bbf1d_0_0"/>
          <p:cNvSpPr txBox="1"/>
          <p:nvPr/>
        </p:nvSpPr>
        <p:spPr>
          <a:xfrm>
            <a:off x="0" y="0"/>
            <a:ext cx="253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Initial Results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