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13716000" cx="24384000"/>
  <p:notesSz cx="6858000" cy="9144000"/>
  <p:embeddedFontLst>
    <p:embeddedFont>
      <p:font typeface="Jost"/>
      <p:regular r:id="rId8"/>
      <p:bold r:id="rId9"/>
      <p:italic r:id="rId10"/>
      <p:boldItalic r:id="rId11"/>
    </p:embeddedFon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q926/+LRkq9l3F1//yx0DNKrA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ost-boldItalic.fntdata"/><Relationship Id="rId10" Type="http://schemas.openxmlformats.org/officeDocument/2006/relationships/font" Target="fonts/Jost-italic.fntdata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Jost-bold.fntdata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Jo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fb7bc713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d1fb7bc713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e66e0d32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ce66e0d32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1f16a8c47_6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d1f16a8c47_6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>
  <p:cSld name="Title &amp; Phot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7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8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8" name="Google Shape;38;p11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Small">
  <p:cSld name="Title, Bullets &amp; Live Video Small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Large">
  <p:cSld name="Title, Bullets &amp; Live Video Larg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3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fb7bc713_0_3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d1fb7bc713_0_3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 generates set of GESs.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implemented by not used for GESs or insights (Scott drove).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g3d1fb7bc713_0_3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1fb7bc713_0_3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1fb7bc713_0_3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d1fb7bc713_0_3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d1fb7bc713_0_3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GESs, modify them and set up experiment.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Analyze results with Cell Development Kit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d1fb7bc713_0_3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3d1fb7bc713_0_3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priors,bounds/constraints, ect and IGOR generates/updates GESs.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d1fb7bc713_0_3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Notes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“SamCell” agent converts OR results to DevNote format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publishes DevNote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d1fb7bc713_0_3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curates data / makes notes about experiment.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 notes, outputs, and turns into a draft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draft.</a:t>
            </a:r>
            <a:endParaRPr b="1" sz="26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7" name="Google Shape;97;g3d1fb7bc713_0_3"/>
          <p:cNvCxnSpPr>
            <a:stCxn id="94" idx="0"/>
            <a:endCxn id="86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98" name="Google Shape;98;g3d1fb7bc713_0_3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d1fb7bc713_0_3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1fb7bc713_0_3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d1fb7bc713_0_3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1fb7bc713_0_3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d1fb7bc713_0_3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4" name="Google Shape;104;g3d1fb7bc713_0_3"/>
          <p:cNvGrpSpPr/>
          <p:nvPr/>
        </p:nvGrpSpPr>
        <p:grpSpPr>
          <a:xfrm>
            <a:off x="4254138" y="10219972"/>
            <a:ext cx="3140094" cy="2006784"/>
            <a:chOff x="0" y="-133"/>
            <a:chExt cx="3140094" cy="2006784"/>
          </a:xfrm>
        </p:grpSpPr>
        <p:sp>
          <p:nvSpPr>
            <p:cNvPr id="105" name="Google Shape;105;g3d1fb7bc713_0_3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d1fb7bc713_0_3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1fb7bc713_0_3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d1fb7bc713_0_3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" name="Google Shape;109;g3d1fb7bc713_0_3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110" name="Google Shape;110;g3d1fb7bc713_0_3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111" name="Google Shape;111;g3d1fb7bc713_0_3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112" name="Google Shape;112;g3d1fb7bc713_0_3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" name="Google Shape;113;g3d1fb7bc713_0_3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4" name="Google Shape;114;g3d1fb7bc713_0_3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g3d1fb7bc713_0_3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d1fb7bc713_0_3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117" name="Google Shape;117;g3d1fb7bc713_0_3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d1fb7bc713_0_3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d1fb7bc713_0_3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3d1fb7bc713_0_3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d1fb7bc713_0_3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3d1fb7bc713_0_3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1fb7bc713_0_3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d1fb7bc713_0_3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g3d1fb7bc713_0_3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126" name="Google Shape;126;g3d1fb7bc713_0_3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" name="Google Shape;127;g3d1fb7bc713_0_3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d1fb7bc713_0_3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d1fb7bc713_0_3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d1fb7bc713_0_3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d1fb7bc713_0_3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d1fb7bc713_0_3"/>
          <p:cNvSpPr txBox="1"/>
          <p:nvPr/>
        </p:nvSpPr>
        <p:spPr>
          <a:xfrm>
            <a:off x="638460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Exp. Obs.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d1fb7bc713_0_3"/>
          <p:cNvSpPr txBox="1"/>
          <p:nvPr/>
        </p:nvSpPr>
        <p:spPr>
          <a:xfrm>
            <a:off x="2430675" y="12570600"/>
            <a:ext cx="22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" name="Google Shape;134;g3d1fb7bc713_0_3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g3d1fb7bc713_0_3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g3d1fb7bc713_0_3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137" name="Google Shape;137;g3d1fb7bc713_0_3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138" name="Google Shape;138;g3d1fb7bc713_0_3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9" name="Google Shape;139;g3d1fb7bc713_0_3"/>
          <p:cNvCxnSpPr>
            <a:stCxn id="140" idx="0"/>
            <a:endCxn id="86" idx="2"/>
          </p:cNvCxnSpPr>
          <p:nvPr/>
        </p:nvCxnSpPr>
        <p:spPr>
          <a:xfrm flipH="1" rot="5400000">
            <a:off x="4589950" y="3691825"/>
            <a:ext cx="665400" cy="171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1" name="Google Shape;141;g3d1fb7bc713_0_3"/>
          <p:cNvCxnSpPr>
            <a:stCxn id="142" idx="0"/>
            <a:endCxn id="86" idx="2"/>
          </p:cNvCxnSpPr>
          <p:nvPr/>
        </p:nvCxnSpPr>
        <p:spPr>
          <a:xfrm rot="-5400000">
            <a:off x="3064800" y="3886825"/>
            <a:ext cx="665400" cy="132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43" name="Google Shape;143;g3d1fb7bc713_0_3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" name="Google Shape;144;g3d1fb7bc713_0_3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Understanding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Bimodal peak at different Mg correlates w/ CP.</a:t>
            </a:r>
            <a:endParaRPr b="1"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1fb7bc713_0_3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>
              <a:solidFill>
                <a:schemeClr val="dk1"/>
              </a:solidFill>
            </a:endParaRPr>
          </a:p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HW: New reagent capabilities, cleaned platemap workflow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Formulation: New batch of Mg.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Algo:</a:t>
            </a: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Added in OR, Updated Agent for OR-GESs to not be OFAT.</a:t>
            </a:r>
            <a:endParaRPr b="1"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d1fb7bc713_0_3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179 exp w/ round0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11 features / 4 outputs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35 GESs.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GESs features modified [DNA, Pmix, Ribo, CP, AA].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 35 modified GESs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GESs from IG only.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7" name="Google Shape;147;g3d1fb7bc713_0_3"/>
          <p:cNvCxnSpPr>
            <a:stCxn id="96" idx="2"/>
            <a:endCxn id="145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8" name="Google Shape;148;g3d1fb7bc713_0_3"/>
          <p:cNvCxnSpPr>
            <a:stCxn id="96" idx="2"/>
            <a:endCxn id="144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9" name="Google Shape;149;g3d1fb7bc713_0_3"/>
          <p:cNvCxnSpPr>
            <a:endCxn id="146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50" name="Google Shape;150;g3d1fb7bc713_0_3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Decisions made: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No need for replicates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Run IG and OR GESs for Round-2.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d1fb7bc713_0_3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d1fb7bc713_0_3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d1fb7bc713_0_3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" name="Google Shape;154;g3d1fb7bc713_0_3"/>
          <p:cNvCxnSpPr>
            <a:stCxn id="119" idx="1"/>
            <a:endCxn id="96" idx="1"/>
          </p:cNvCxnSpPr>
          <p:nvPr/>
        </p:nvCxnSpPr>
        <p:spPr>
          <a:xfrm>
            <a:off x="12387642" y="6099023"/>
            <a:ext cx="6535200" cy="2700"/>
          </a:xfrm>
          <a:prstGeom prst="bentConnector5">
            <a:avLst>
              <a:gd fmla="val 1316" name="adj1"/>
              <a:gd fmla="val 113963" name="adj2"/>
              <a:gd fmla="val 55762" name="adj3"/>
            </a:avLst>
          </a:prstGeom>
          <a:noFill/>
          <a:ln cap="flat" cmpd="sng" w="76200">
            <a:solidFill>
              <a:schemeClr val="accent5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155" name="Google Shape;155;g3d1fb7bc713_0_3"/>
          <p:cNvCxnSpPr>
            <a:stCxn id="96" idx="2"/>
            <a:endCxn id="96" idx="2"/>
          </p:cNvCxnSpPr>
          <p:nvPr/>
        </p:nvCxnSpPr>
        <p:spPr>
          <a:xfrm>
            <a:off x="21445020" y="7349136"/>
            <a:ext cx="0" cy="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g3d1fb7bc713_0_3"/>
          <p:cNvSpPr/>
          <p:nvPr/>
        </p:nvSpPr>
        <p:spPr>
          <a:xfrm>
            <a:off x="4360600" y="4884475"/>
            <a:ext cx="2844000" cy="37653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-Same Round-0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bnext Info.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Same Round-0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Round0 Publish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g3d1fb7bc713_0_3"/>
          <p:cNvSpPr/>
          <p:nvPr/>
        </p:nvSpPr>
        <p:spPr>
          <a:xfrm>
            <a:off x="1222200" y="4884475"/>
            <a:ext cx="3020700" cy="17952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</a:t>
            </a:r>
            <a:endParaRPr b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-Curated data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-Round-0 data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g3d1fb7bc713_0_3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Round-1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66e0d32f_0_5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ce66e0d32f_0_5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 generates set of GESs.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note used.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ce66e0d32f_0_5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ce66e0d32f_0_5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ce66e0d32f_0_5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g3ce66e0d32f_0_5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g3ce66e0d32f_0_5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GESs, modify them and set up experiment.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Analyze results with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Cell Development Kit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ce66e0d32f_0_5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3ce66e0d32f_0_5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priors,bounds/constraints, ect and IGOR generates/updates GESs.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ce66e0d32f_0_5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takes experimenters notes, IGOR outputs, and turns into a draft.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g3ce66e0d32f_0_5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[Human] Developer Notes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rapidly shared as interactive publications, backed by computable open data.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g3ce66e0d32f_0_5"/>
          <p:cNvCxnSpPr>
            <a:stCxn id="169" idx="0"/>
            <a:endCxn id="161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73" name="Google Shape;173;g3ce66e0d32f_0_5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3ce66e0d32f_0_5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ce66e0d32f_0_5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ce66e0d32f_0_5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ce66e0d32f_0_5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ce66e0d32f_0_5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9" name="Google Shape;179;g3ce66e0d32f_0_5"/>
          <p:cNvGrpSpPr/>
          <p:nvPr/>
        </p:nvGrpSpPr>
        <p:grpSpPr>
          <a:xfrm>
            <a:off x="4254138" y="10219972"/>
            <a:ext cx="3140094" cy="2006783"/>
            <a:chOff x="0" y="-133"/>
            <a:chExt cx="3140094" cy="2006784"/>
          </a:xfrm>
        </p:grpSpPr>
        <p:sp>
          <p:nvSpPr>
            <p:cNvPr id="180" name="Google Shape;180;g3ce66e0d32f_0_5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ce66e0d32f_0_5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ce66e0d32f_0_5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ce66e0d32f_0_5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4" name="Google Shape;184;g3ce66e0d32f_0_5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185" name="Google Shape;185;g3ce66e0d32f_0_5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186" name="Google Shape;186;g3ce66e0d32f_0_5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187" name="Google Shape;187;g3ce66e0d32f_0_5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" name="Google Shape;188;g3ce66e0d32f_0_5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89" name="Google Shape;189;g3ce66e0d32f_0_5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3ce66e0d32f_0_5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g3ce66e0d32f_0_5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192" name="Google Shape;192;g3ce66e0d32f_0_5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g3ce66e0d32f_0_5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3ce66e0d32f_0_5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3ce66e0d32f_0_5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3ce66e0d32f_0_5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3ce66e0d32f_0_5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e66e0d32f_0_5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g3ce66e0d32f_0_5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g3ce66e0d32f_0_5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201" name="Google Shape;201;g3ce66e0d32f_0_5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2" name="Google Shape;202;g3ce66e0d32f_0_5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g3ce66e0d32f_0_5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3ce66e0d32f_0_5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g3ce66e0d32f_0_5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g3ce66e0d32f_0_5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g3ce66e0d32f_0_5"/>
          <p:cNvSpPr txBox="1"/>
          <p:nvPr/>
        </p:nvSpPr>
        <p:spPr>
          <a:xfrm>
            <a:off x="638460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Exp. Obs.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3ce66e0d32f_0_5"/>
          <p:cNvSpPr txBox="1"/>
          <p:nvPr/>
        </p:nvSpPr>
        <p:spPr>
          <a:xfrm>
            <a:off x="2430675" y="12570600"/>
            <a:ext cx="228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(GESs)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9" name="Google Shape;209;g3ce66e0d32f_0_5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g3ce66e0d32f_0_5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g3ce66e0d32f_0_5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212" name="Google Shape;212;g3ce66e0d32f_0_5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213" name="Google Shape;213;g3ce66e0d32f_0_5"/>
          <p:cNvSpPr/>
          <p:nvPr/>
        </p:nvSpPr>
        <p:spPr>
          <a:xfrm>
            <a:off x="1222200" y="4884475"/>
            <a:ext cx="30207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</a:t>
            </a:r>
            <a:endParaRPr b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-Curated dataset</a:t>
            </a:r>
            <a:endParaRPr b="1" sz="24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g3ce66e0d32f_0_5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g3ce66e0d32f_0_5"/>
          <p:cNvSpPr/>
          <p:nvPr/>
        </p:nvSpPr>
        <p:spPr>
          <a:xfrm>
            <a:off x="4360600" y="4884475"/>
            <a:ext cx="28440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B7B7B7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b="1" sz="24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-Not used</a:t>
            </a:r>
            <a:endParaRPr sz="24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6" name="Google Shape;216;g3ce66e0d32f_0_5"/>
          <p:cNvCxnSpPr>
            <a:stCxn id="215" idx="0"/>
            <a:endCxn id="161" idx="2"/>
          </p:cNvCxnSpPr>
          <p:nvPr/>
        </p:nvCxnSpPr>
        <p:spPr>
          <a:xfrm flipH="1" rot="5400000">
            <a:off x="4589950" y="3691825"/>
            <a:ext cx="665400" cy="171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17" name="Google Shape;217;g3ce66e0d32f_0_5"/>
          <p:cNvCxnSpPr>
            <a:stCxn id="213" idx="0"/>
            <a:endCxn id="161" idx="2"/>
          </p:cNvCxnSpPr>
          <p:nvPr/>
        </p:nvCxnSpPr>
        <p:spPr>
          <a:xfrm rot="-5400000">
            <a:off x="3064800" y="3886825"/>
            <a:ext cx="665400" cy="132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18" name="Google Shape;218;g3ce66e0d32f_0_5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9" name="Google Shape;219;g3ce66e0d32f_0_5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HW: API platemap mismatch, improve reagent dispensing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7"/>
                </a:ext>
              </a:extLst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Algo: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IGOR doesn’t generate suggestions for zero-var, Opt 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controls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 need to flag how much explore vs exploit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g3ce66e0d32f_0_5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-US" sz="2800"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space well sampled for Mg, K, Cp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should expand features.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g3ce66e0d32f_0_5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145 exp obs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7 features / 4 outputs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utputs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: 4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[3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parameter sigmoidal fit, +1 classifier]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GESs modified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2" name="Google Shape;222;g3ce66e0d32f_0_5"/>
          <p:cNvCxnSpPr>
            <a:stCxn id="171" idx="2"/>
            <a:endCxn id="220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23" name="Google Shape;223;g3ce66e0d32f_0_5"/>
          <p:cNvCxnSpPr>
            <a:stCxn id="171" idx="2"/>
            <a:endCxn id="219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24" name="Google Shape;224;g3ce66e0d32f_0_5"/>
          <p:cNvCxnSpPr>
            <a:endCxn id="221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25" name="Google Shape;225;g3ce66e0d32f_0_5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Decisions made: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 features most likely to result in higher yield and are easily tunable for us [GTP, ATP, AAs, tRNAs]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PPK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 OR in next round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g3ce66e0d32f_0_5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g3ce66e0d32f_0_5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g3ce66e0d32f_0_5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9" name="Google Shape;229;g3ce66e0d32f_0_5"/>
          <p:cNvCxnSpPr>
            <a:stCxn id="194" idx="1"/>
            <a:endCxn id="203" idx="3"/>
          </p:cNvCxnSpPr>
          <p:nvPr/>
        </p:nvCxnSpPr>
        <p:spPr>
          <a:xfrm flipH="1" rot="10800000">
            <a:off x="12387642" y="2971523"/>
            <a:ext cx="6533400" cy="3127500"/>
          </a:xfrm>
          <a:prstGeom prst="bentConnector5">
            <a:avLst>
              <a:gd fmla="val 91499" name="adj1"/>
              <a:gd fmla="val 49555" name="adj2"/>
              <a:gd fmla="val 91499" name="adj3"/>
            </a:avLst>
          </a:prstGeom>
          <a:noFill/>
          <a:ln cap="flat" cmpd="sng" w="762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0" name="Google Shape;230;g3ce66e0d32f_0_5"/>
          <p:cNvCxnSpPr>
            <a:stCxn id="204" idx="1"/>
            <a:endCxn id="171" idx="2"/>
          </p:cNvCxnSpPr>
          <p:nvPr/>
        </p:nvCxnSpPr>
        <p:spPr>
          <a:xfrm flipH="1">
            <a:off x="21444926" y="4257055"/>
            <a:ext cx="18600" cy="309210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3ce66e0d32f_0_5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Round-0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1f16a8c47_6_74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g3d1f16a8c47_6_74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 grounds agent output to data.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Hypotheses translated to experimental designs.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g3d1f16a8c47_6_74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d1f16a8c47_6_74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1f16a8c47_6_74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3d1f16a8c47_6_74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g3d1f16a8c47_6_74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high-throughput cell-free pipeline.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to IGOR via Cell Developer Kit (CDK).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g3d1f16a8c47_6_74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g3d1f16a8c47_6_74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priors,ect and IGOR updates against quantitative ground-truth and refines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g3d1f16a8c47_6_74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takes experimenters notes, IGOR outputs, and turns into a draft.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g3d1f16a8c47_6_74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Notes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rapidly shared as interactive publications, backed by computable open data.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g3d1f16a8c47_6_74"/>
          <p:cNvCxnSpPr>
            <a:stCxn id="244" idx="0"/>
            <a:endCxn id="236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48" name="Google Shape;248;g3d1f16a8c47_6_74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g3d1f16a8c47_6_74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d1f16a8c47_6_74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d1f16a8c47_6_74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d1f16a8c47_6_74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1f16a8c47_6_74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54" name="Google Shape;254;g3d1f16a8c47_6_74"/>
          <p:cNvGrpSpPr/>
          <p:nvPr/>
        </p:nvGrpSpPr>
        <p:grpSpPr>
          <a:xfrm>
            <a:off x="4254138" y="10219972"/>
            <a:ext cx="3140094" cy="2006784"/>
            <a:chOff x="0" y="-133"/>
            <a:chExt cx="3140094" cy="2006784"/>
          </a:xfrm>
        </p:grpSpPr>
        <p:sp>
          <p:nvSpPr>
            <p:cNvPr id="255" name="Google Shape;255;g3d1f16a8c47_6_74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d1f16a8c47_6_74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d1f16a8c47_6_74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d1f16a8c47_6_74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9" name="Google Shape;259;g3d1f16a8c47_6_74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260" name="Google Shape;260;g3d1f16a8c47_6_74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261" name="Google Shape;261;g3d1f16a8c47_6_74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262" name="Google Shape;262;g3d1f16a8c47_6_74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3" name="Google Shape;263;g3d1f16a8c47_6_74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64" name="Google Shape;264;g3d1f16a8c47_6_74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g3d1f16a8c47_6_74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3d1f16a8c47_6_74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267" name="Google Shape;267;g3d1f16a8c47_6_74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g3d1f16a8c47_6_74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g3d1f16a8c47_6_74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g3d1f16a8c47_6_74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g3d1f16a8c47_6_74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g3d1f16a8c47_6_74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1f16a8c47_6_74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g3d1f16a8c47_6_74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g3d1f16a8c47_6_74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276" name="Google Shape;276;g3d1f16a8c47_6_74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7" name="Google Shape;277;g3d1f16a8c47_6_74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g3d1f16a8c47_6_74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g3d1f16a8c47_6_74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g3d1f16a8c47_6_74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3d1f16a8c47_6_74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g3d1f16a8c47_6_74"/>
          <p:cNvSpPr txBox="1"/>
          <p:nvPr/>
        </p:nvSpPr>
        <p:spPr>
          <a:xfrm>
            <a:off x="638460" y="1257060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g3d1f16a8c47_6_74"/>
          <p:cNvSpPr txBox="1"/>
          <p:nvPr/>
        </p:nvSpPr>
        <p:spPr>
          <a:xfrm>
            <a:off x="2430684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4" name="Google Shape;284;g3d1f16a8c47_6_74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g3d1f16a8c47_6_74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g3d1f16a8c47_6_74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g3d1f16a8c47_6_74"/>
          <p:cNvSpPr/>
          <p:nvPr/>
        </p:nvSpPr>
        <p:spPr>
          <a:xfrm>
            <a:off x="4183900" y="4886250"/>
            <a:ext cx="3020700" cy="3765300"/>
          </a:xfrm>
          <a:prstGeom prst="roundRect">
            <a:avLst>
              <a:gd fmla="val 9522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himizu 2001.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-Li et al, 2014.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-Lavickova 2019.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bnext Info.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- 6/30/25 meeting notes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PURE ppt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8" name="Google Shape;288;g3d1f16a8c47_6_74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g3d1f16a8c47_6_74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g3d1f16a8c47_6_74"/>
          <p:cNvSpPr/>
          <p:nvPr/>
        </p:nvSpPr>
        <p:spPr>
          <a:xfrm>
            <a:off x="1222774" y="4884475"/>
            <a:ext cx="28440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1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-Initial dataset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1" name="Google Shape;291;g3d1f16a8c47_6_74"/>
          <p:cNvCxnSpPr>
            <a:stCxn id="290" idx="0"/>
            <a:endCxn id="236" idx="2"/>
          </p:cNvCxnSpPr>
          <p:nvPr/>
        </p:nvCxnSpPr>
        <p:spPr>
          <a:xfrm rot="-5400000">
            <a:off x="3020974" y="3842875"/>
            <a:ext cx="665400" cy="14178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92" name="Google Shape;292;g3d1f16a8c47_6_74"/>
          <p:cNvCxnSpPr>
            <a:stCxn id="287" idx="0"/>
            <a:endCxn id="236" idx="2"/>
          </p:cNvCxnSpPr>
          <p:nvPr/>
        </p:nvCxnSpPr>
        <p:spPr>
          <a:xfrm flipH="1" rot="5400000">
            <a:off x="4544800" y="3736800"/>
            <a:ext cx="667200" cy="1631700"/>
          </a:xfrm>
          <a:prstGeom prst="bentConnector3">
            <a:avLst>
              <a:gd fmla="val 50004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93" name="Google Shape;293;g3d1f16a8c47_6_74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4" name="Google Shape;294;g3d1f16a8c47_6_74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Hand pipetted</a:t>
            </a:r>
            <a:endParaRPr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g3d1f16a8c47_6_74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-US" sz="2800"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Proved IGOR could find signal despite sparse &amp; noisy data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suggested two plausible hypotheses for further rounds.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g3d1f16a8c47_6_74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b="1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96 exp obs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4 features / 1 output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7" name="Google Shape;297;g3d1f16a8c47_6_74"/>
          <p:cNvCxnSpPr>
            <a:stCxn id="246" idx="2"/>
            <a:endCxn id="295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98" name="Google Shape;298;g3d1f16a8c47_6_74"/>
          <p:cNvCxnSpPr>
            <a:stCxn id="246" idx="2"/>
            <a:endCxn id="294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99" name="Google Shape;299;g3d1f16a8c47_6_74"/>
          <p:cNvCxnSpPr>
            <a:endCxn id="296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00" name="Google Shape;300;g3d1f16a8c47_6_74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Transitioning from the baseline PURE system to PPK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Suggesting a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decoupled, inverse relationship between magnesium and ribosomes.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g3d1f16a8c47_6_74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g3d1f16a8c47_6_74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g3d1f16a8c47_6_74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04" name="Google Shape;304;g3d1f16a8c47_6_74"/>
          <p:cNvCxnSpPr/>
          <p:nvPr/>
        </p:nvCxnSpPr>
        <p:spPr>
          <a:xfrm flipH="1">
            <a:off x="21444926" y="4257055"/>
            <a:ext cx="18600" cy="309210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g3d1f16a8c47_6_74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Initial Results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